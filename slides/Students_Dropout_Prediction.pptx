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Lst>
  <p:sldSz cx="14630400" cy="8229600"/>
  <p:notesSz cx="8229600" cy="14630400"/>
  <p:embeddedFontLst>
    <p:embeddedFont>
      <p:font typeface="DM Sans Medium" pitchFamily="2" charset="0"/>
      <p:regular r:id="rId18"/>
      <p:italic r:id="rId19"/>
    </p:embeddedFont>
    <p:embeddedFont>
      <p:font typeface="Inter"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8F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1195" autoAdjust="0"/>
  </p:normalViewPr>
  <p:slideViewPr>
    <p:cSldViewPr snapToGrid="0" snapToObjects="1">
      <p:cViewPr varScale="1">
        <p:scale>
          <a:sx n="36" d="100"/>
          <a:sy n="36" d="100"/>
        </p:scale>
        <p:origin x="112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2627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project description</a:t>
            </a:r>
            <a:r>
              <a:rPr lang="en-US" dirty="0"/>
              <a:t>, outlining the objective, dataset, and our general approach.</a:t>
            </a:r>
            <a:br>
              <a:rPr lang="en-US" dirty="0"/>
            </a:br>
            <a:r>
              <a:rPr lang="en-US" dirty="0"/>
              <a:t>Next, we will move into the </a:t>
            </a:r>
            <a:r>
              <a:rPr lang="en-US" b="1" dirty="0"/>
              <a:t>literature review</a:t>
            </a:r>
            <a:r>
              <a:rPr lang="en-US" dirty="0"/>
              <a:t>, where we discuss previous research and key gaps.</a:t>
            </a:r>
            <a:br>
              <a:rPr lang="en-US" dirty="0"/>
            </a:br>
            <a:r>
              <a:rPr lang="en-US" dirty="0"/>
              <a:t>Then, we will walk through the </a:t>
            </a:r>
            <a:r>
              <a:rPr lang="en-US" b="1" dirty="0"/>
              <a:t>predictive analytics problem formulation</a:t>
            </a:r>
            <a:r>
              <a:rPr lang="en-US" dirty="0"/>
              <a:t>, detailing the primary questions we aim to answer.</a:t>
            </a:r>
            <a:br>
              <a:rPr lang="en-US" dirty="0"/>
            </a:br>
            <a:r>
              <a:rPr lang="en-US" dirty="0"/>
              <a:t>The </a:t>
            </a:r>
            <a:r>
              <a:rPr lang="en-US" b="1" dirty="0"/>
              <a:t>methodology</a:t>
            </a:r>
            <a:r>
              <a:rPr lang="en-US" dirty="0"/>
              <a:t> section will describe our data preparation steps, modelling, hyperparameter tuning, and evaluation.</a:t>
            </a:r>
            <a:br>
              <a:rPr lang="en-US" dirty="0"/>
            </a:br>
            <a:r>
              <a:rPr lang="en-US" dirty="0"/>
              <a:t>We’ll then present our </a:t>
            </a:r>
            <a:r>
              <a:rPr lang="en-US" b="1" dirty="0"/>
              <a:t>results</a:t>
            </a:r>
            <a:r>
              <a:rPr lang="en-US" dirty="0"/>
              <a:t>, starting with EDA moving to performance metrics and insights from the models.</a:t>
            </a:r>
            <a:br>
              <a:rPr lang="en-US" dirty="0"/>
            </a:br>
            <a:r>
              <a:rPr lang="en-US" dirty="0"/>
              <a:t>Afterward, we will offer a </a:t>
            </a:r>
            <a:r>
              <a:rPr lang="en-US" b="1" dirty="0"/>
              <a:t>comparison with related academic works</a:t>
            </a:r>
            <a:r>
              <a:rPr lang="en-US" dirty="0"/>
              <a:t>, evaluating our outcomes in context.</a:t>
            </a:r>
            <a:br>
              <a:rPr lang="en-US" dirty="0"/>
            </a:br>
            <a:r>
              <a:rPr lang="en-US" dirty="0"/>
              <a:t>Finally, we will conclude with a summary and outline areas for </a:t>
            </a:r>
            <a:r>
              <a:rPr lang="en-US" b="1" dirty="0"/>
              <a:t>future work</a:t>
            </a:r>
            <a:r>
              <a:rPr lang="en-US" dirty="0"/>
              <a:t> that can extend this research.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objective of our project is to build a model that predicts whether a student will </a:t>
            </a:r>
            <a:r>
              <a:rPr lang="en-US" b="1" dirty="0"/>
              <a:t>drop out or graduate</a:t>
            </a:r>
            <a:r>
              <a:rPr lang="en-US" dirty="0"/>
              <a:t>, using historical academic, financial, and demographic data.</a:t>
            </a:r>
            <a:br>
              <a:rPr lang="en-US" dirty="0"/>
            </a:br>
            <a:r>
              <a:rPr lang="en-US" dirty="0"/>
              <a:t>We utilized a dataset from the </a:t>
            </a:r>
            <a:r>
              <a:rPr lang="en-US" b="1" dirty="0"/>
              <a:t>UCI Machine Learning Repository</a:t>
            </a:r>
            <a:r>
              <a:rPr lang="en-US" dirty="0"/>
              <a:t>, which includes </a:t>
            </a:r>
            <a:r>
              <a:rPr lang="en-US" b="1" dirty="0"/>
              <a:t>3,630 student records</a:t>
            </a:r>
            <a:r>
              <a:rPr lang="en-US" dirty="0"/>
              <a:t> with </a:t>
            </a:r>
            <a:r>
              <a:rPr lang="en-US" b="1" dirty="0"/>
              <a:t>37 variables</a:t>
            </a:r>
            <a:r>
              <a:rPr lang="en-US" dirty="0"/>
              <a:t> from a Portuguese higher education institution.</a:t>
            </a:r>
            <a:br>
              <a:rPr lang="en-US" dirty="0"/>
            </a:br>
            <a:r>
              <a:rPr lang="en-US" dirty="0"/>
              <a:t>This dataset provides rich information on course enrollment, academic performance across semesters, payment history, and personal background.</a:t>
            </a:r>
            <a:br>
              <a:rPr lang="en-US" dirty="0"/>
            </a:br>
            <a:br>
              <a:rPr lang="en-US" dirty="0"/>
            </a:br>
            <a:br>
              <a:rPr lang="en-US" dirty="0"/>
            </a:br>
            <a:r>
              <a:rPr lang="en-US" dirty="0"/>
              <a:t>Our guiding hypothesis is that patterns in early academic success, financial behavior, and demographic traits are sufficient to </a:t>
            </a:r>
            <a:r>
              <a:rPr lang="en-US" b="1" dirty="0"/>
              <a:t>accurately predict academic persistence or risk of dropout</a:t>
            </a:r>
            <a:r>
              <a:rPr lang="en-US"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literature review begins with </a:t>
            </a:r>
            <a:r>
              <a:rPr lang="en-US" b="1" dirty="0"/>
              <a:t>traditional approaches</a:t>
            </a:r>
            <a:r>
              <a:rPr lang="en-US" dirty="0"/>
              <a:t>, where earlier studies primarily used </a:t>
            </a:r>
            <a:r>
              <a:rPr lang="en-US" b="1" dirty="0"/>
              <a:t>logistic regression</a:t>
            </a:r>
            <a:r>
              <a:rPr lang="en-US" dirty="0"/>
              <a:t>. While interpretable, these models often failed to capture the complexity of student outcomes and had limited predictive power.</a:t>
            </a:r>
            <a:br>
              <a:rPr lang="en-US" dirty="0"/>
            </a:br>
            <a:r>
              <a:rPr lang="en-US" dirty="0"/>
              <a:t>More recent work has shifted toward </a:t>
            </a:r>
            <a:r>
              <a:rPr lang="en-US" b="1" dirty="0"/>
              <a:t>ensemble learning</a:t>
            </a:r>
            <a:r>
              <a:rPr lang="en-US" dirty="0"/>
              <a:t>, particularly </a:t>
            </a:r>
            <a:r>
              <a:rPr lang="en-US" b="1" dirty="0"/>
              <a:t>Random Forest, Gradient Boosting, and </a:t>
            </a:r>
            <a:r>
              <a:rPr lang="en-US" b="1" dirty="0" err="1"/>
              <a:t>XGBoost</a:t>
            </a:r>
            <a:r>
              <a:rPr lang="en-US" dirty="0"/>
              <a:t>, which outperform simpler methods by handling </a:t>
            </a:r>
            <a:r>
              <a:rPr lang="en-US" b="1" dirty="0"/>
              <a:t>non-linear relationships</a:t>
            </a:r>
            <a:r>
              <a:rPr lang="en-US" dirty="0"/>
              <a:t> and </a:t>
            </a:r>
            <a:r>
              <a:rPr lang="en-US" b="1" dirty="0"/>
              <a:t>high-dimensional data</a:t>
            </a:r>
            <a:r>
              <a:rPr lang="en-US" dirty="0"/>
              <a:t> more effectively.</a:t>
            </a:r>
            <a:br>
              <a:rPr lang="en-US" dirty="0"/>
            </a:br>
            <a:r>
              <a:rPr lang="en-US" dirty="0"/>
              <a:t>Advanced techniques such as </a:t>
            </a:r>
            <a:r>
              <a:rPr lang="en-US" b="1" dirty="0"/>
              <a:t>stacking ensembles</a:t>
            </a:r>
            <a:r>
              <a:rPr lang="en-US" dirty="0"/>
              <a:t> have also gained traction. Studies demonstrate that combining models can significantly improve precision, recall, and overall classification performance.</a:t>
            </a:r>
            <a:br>
              <a:rPr lang="en-US" dirty="0"/>
            </a:br>
            <a:r>
              <a:rPr lang="en-US" dirty="0"/>
              <a:t>Despite these advancements, challenges persist — especially the </a:t>
            </a:r>
            <a:r>
              <a:rPr lang="en-US" b="1" dirty="0"/>
              <a:t>lack of generalizability across institutions. </a:t>
            </a:r>
          </a:p>
          <a:p>
            <a:br>
              <a:rPr lang="en-US" dirty="0"/>
            </a:br>
            <a:r>
              <a:rPr lang="en-US" dirty="0"/>
              <a:t>Our project builds upon this foundation by applying tuned ensemble models and stacking strategies to a real-world dataset while addressing these challenges head-on.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formulated our project as a </a:t>
            </a:r>
            <a:r>
              <a:rPr lang="en-US" b="1" dirty="0"/>
              <a:t>binary classification problem</a:t>
            </a:r>
            <a:r>
              <a:rPr lang="en-US" dirty="0"/>
              <a:t>, where each student is categorized as either "Graduate" or "Dropout".</a:t>
            </a:r>
            <a:br>
              <a:rPr lang="en-US" dirty="0"/>
            </a:br>
            <a:br>
              <a:rPr lang="en-US" dirty="0"/>
            </a:br>
            <a:r>
              <a:rPr lang="en-US" dirty="0"/>
              <a:t>Our </a:t>
            </a:r>
            <a:r>
              <a:rPr lang="en-US" b="1" dirty="0"/>
              <a:t>primary question</a:t>
            </a:r>
            <a:r>
              <a:rPr lang="en-US" dirty="0"/>
              <a:t> was whether we could predict dropout risk based on early academic, financial, and demographic features.</a:t>
            </a:r>
            <a:br>
              <a:rPr lang="en-US" dirty="0"/>
            </a:br>
            <a:r>
              <a:rPr lang="en-US" dirty="0"/>
              <a:t>To support this, we conducted </a:t>
            </a:r>
            <a:r>
              <a:rPr lang="en-US" b="1" dirty="0"/>
              <a:t>feature analysis</a:t>
            </a:r>
            <a:r>
              <a:rPr lang="en-US" dirty="0"/>
              <a:t> to identify which variables most strongly influence student persistence.</a:t>
            </a:r>
            <a:br>
              <a:rPr lang="en-US" dirty="0"/>
            </a:br>
            <a:r>
              <a:rPr lang="en-US" dirty="0"/>
              <a:t>The </a:t>
            </a:r>
            <a:r>
              <a:rPr lang="en-US" b="1" dirty="0"/>
              <a:t>model evaluation</a:t>
            </a:r>
            <a:r>
              <a:rPr lang="en-US" dirty="0"/>
              <a:t> component involved testing six machine learning algorithms, including both traditional and advanced ensemble models, to identify those with the highest predictive accuracy.</a:t>
            </a:r>
            <a:br>
              <a:rPr lang="en-US" dirty="0"/>
            </a:br>
            <a:r>
              <a:rPr lang="en-US" dirty="0"/>
              <a:t>Finally, we posed a critical </a:t>
            </a:r>
            <a:r>
              <a:rPr lang="en-US" b="1" dirty="0"/>
              <a:t>enhancement strategy</a:t>
            </a:r>
            <a:r>
              <a:rPr lang="en-US" dirty="0"/>
              <a:t> question:</a:t>
            </a:r>
            <a:br>
              <a:rPr lang="en-US" dirty="0"/>
            </a:br>
            <a:r>
              <a:rPr lang="en-US" dirty="0"/>
              <a:t>Would hyperparameter tuning and stacking ensemble models lead to a meaningful improvement in prediction performance?</a:t>
            </a:r>
            <a:br>
              <a:rPr lang="en-US" dirty="0"/>
            </a:br>
            <a:r>
              <a:rPr lang="en-US" dirty="0"/>
              <a:t>This structure not only helped us build accurate models but also guided us in understanding the underlying drivers of student success and failure in a higher education context.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Our methodology began with structured data preprocessing.</a:t>
            </a:r>
            <a:br>
              <a:rPr lang="en-US" dirty="0"/>
            </a:br>
            <a:r>
              <a:rPr lang="en-US" dirty="0"/>
              <a:t>First, We began by selecting 3,630 student records from the UCI dataset, excluding students still enrolled To focus only on students with confirmed academic outcomes.</a:t>
            </a:r>
          </a:p>
          <a:p>
            <a:pPr>
              <a:buNone/>
            </a:pPr>
            <a:r>
              <a:rPr lang="en-US" dirty="0"/>
              <a:t>During the cleaning process, we found that </a:t>
            </a:r>
            <a:r>
              <a:rPr lang="en-US" b="1" dirty="0"/>
              <a:t>no missing values</a:t>
            </a:r>
            <a:r>
              <a:rPr lang="en-US" dirty="0"/>
              <a:t> were present.</a:t>
            </a:r>
            <a:br>
              <a:rPr lang="en-US" dirty="0"/>
            </a:br>
            <a:r>
              <a:rPr lang="en-US" dirty="0"/>
              <a:t>Categorical variables were encoded using </a:t>
            </a:r>
            <a:r>
              <a:rPr lang="en-US" b="1" dirty="0"/>
              <a:t>label encoding</a:t>
            </a:r>
            <a:r>
              <a:rPr lang="en-US" dirty="0"/>
              <a:t> to make them compatible with machine learning models.</a:t>
            </a:r>
            <a:br>
              <a:rPr lang="en-US" dirty="0"/>
            </a:br>
            <a:r>
              <a:rPr lang="en-US" dirty="0"/>
              <a:t>The target variable was mapped as </a:t>
            </a:r>
            <a:r>
              <a:rPr lang="en-US" b="1" dirty="0"/>
              <a:t>0 for Dropout</a:t>
            </a:r>
            <a:r>
              <a:rPr lang="en-US" dirty="0"/>
              <a:t> and </a:t>
            </a:r>
            <a:r>
              <a:rPr lang="en-US" b="1" dirty="0"/>
              <a:t>1 for Graduate</a:t>
            </a:r>
            <a:r>
              <a:rPr lang="en-US" dirty="0"/>
              <a:t> to suit the binary classification setup.</a:t>
            </a:r>
          </a:p>
          <a:p>
            <a:pPr>
              <a:buNone/>
            </a:pPr>
            <a:r>
              <a:rPr lang="en-US" dirty="0"/>
              <a:t>Exploratory analysis included visualizing distributions and computing correlations. For feature selection, we used both correlation analysis and Random Forest importance scores. Key features included semester grades, tuition payment status, scholarship status, age at enrollment, and admission grade. This process ensured the final dataset was structured, informative, and optimized for robust model training.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applied six classification models to address the binary prediction of student dropout: Logistic Regression, Decision Tree, Random Forest, Gradient Boosting, </a:t>
            </a:r>
            <a:r>
              <a:rPr lang="en-US" dirty="0" err="1"/>
              <a:t>XGBoost</a:t>
            </a:r>
            <a:r>
              <a:rPr lang="en-US" dirty="0"/>
              <a:t>, and </a:t>
            </a:r>
            <a:r>
              <a:rPr lang="en-US" dirty="0" err="1"/>
              <a:t>LightGBM</a:t>
            </a:r>
            <a:r>
              <a:rPr lang="en-US" dirty="0"/>
              <a:t>. The selection of these models was guided by our literature review, which emphasized the effectiveness of ensemble methods in handling structured educational data and class imbalance. Studies such as Arora (2023) and Ridwan et al. (2024) demonstrated that ensemble models consistently outperform traditional algorithms in similar contexts.</a:t>
            </a:r>
            <a:br>
              <a:rPr lang="en-US" dirty="0"/>
            </a:br>
            <a:r>
              <a:rPr lang="en-US" dirty="0"/>
              <a:t>After evaluating baseline results, we identified Gradient Boosting, </a:t>
            </a:r>
            <a:r>
              <a:rPr lang="en-US" dirty="0" err="1"/>
              <a:t>LightGBM</a:t>
            </a:r>
            <a:r>
              <a:rPr lang="en-US" dirty="0"/>
              <a:t>, and Random Forest as top performers. We then conducted hyperparameter tuning using </a:t>
            </a:r>
            <a:r>
              <a:rPr lang="en-US" dirty="0" err="1"/>
              <a:t>GridSearchCV</a:t>
            </a:r>
            <a:r>
              <a:rPr lang="en-US" dirty="0"/>
              <a:t> to improve generalization and reduce overfitting.</a:t>
            </a:r>
            <a:br>
              <a:rPr lang="en-US" dirty="0"/>
            </a:br>
            <a:r>
              <a:rPr lang="en-US" dirty="0"/>
              <a:t>To leverage complementary strengths across these models, we implemented a Stacking Classifier combining the three tuned ensembles as base learners and Logistic Regression as the meta-learner. This approach was chosen to enhance predictive robustness and stability.</a:t>
            </a:r>
          </a:p>
          <a:p>
            <a:r>
              <a:rPr lang="en-US" dirty="0"/>
              <a:t>All models were trained and evaluated using the same preprocessing and feature selection pipeline to maintain fairness and consistency in comparison.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evaluation, we used stratified 5-fold cross-validation to maintain balanced class representation. We assessed models using accuracy, precision, recall, F1-score, and ROC-AUC. To monitor overfitting, we compared training and cross-validation performance—large discrepancies flagged potential issues. All models, from baseline to ensemble, were evaluated using the same metrics and cross-validation structure, ensuring a fair and standardized performance comparison. This approach helped identify the most effective and stable model configuration.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our exploratory data analysis, we investigated patterns between student characteristics and academic outcomes. One standout insight was the relationship between tuition payment status and graduation: students with up-to-date tuition payments demonstrated stronger persistence, reinforcing the critical role of financial stability. Additionally, a clear upward trend was observed between admission grades and graduation likelihood, suggesting that students who enter with higher academic readiness are more likely to succeed. We also examined age at enrollment. The data indicated that younger students tended to graduate at higher rates, which may be linked to fewer competing life responsibilities compared to older students. These visual findings—presented through bar and box plots—provided an early indication of which features could serve as reliable predictors and helped guide our feature selection for model training. Each of these variables—financial, academic, and demographic—was later validated by machine learning models as having substantial predictive influence. These observations not only aligned with previous literature but also strengthened the empirical foundation of our predictive framework.</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Correlation analysis confirmed that semester grades were the most predictive academic features, with second-semester grades (r = 0.605) and first-semester grades (r = 0.519) showing the strongest associations with graduation. Random Forest feature importance reinforced this, highlighting semester performance, approved units, tuition status, and age at enrollment as top predictors. These findings provided a solid foundation for modeling and ensured our selected features captured both academic and non-academic dropout risks. Our final feature set reflected these validated insights, strengthening the overall modeling reliability.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Decision Tree and Random Forest models initially suffered from classic overfitting, extremely high training accuracy, but validation accuracy dropping to 0.8478. To resolve this, we used </a:t>
            </a:r>
            <a:r>
              <a:rPr lang="en-US" dirty="0" err="1"/>
              <a:t>GridSearchCV</a:t>
            </a:r>
            <a:r>
              <a:rPr lang="en-US" dirty="0"/>
              <a:t> to tune key models: Random Forest, Gradient Boosting, and </a:t>
            </a:r>
            <a:r>
              <a:rPr lang="en-US" dirty="0" err="1"/>
              <a:t>LightGBM</a:t>
            </a:r>
            <a:r>
              <a:rPr lang="en-US" dirty="0"/>
              <a:t>. Tuning improved generalization by narrowing the performance gap. This was further reinforced by the Stacking Classifier, which enhanced prediction reliability by blending outputs of the tuned models, resulting in more stable dropout risk predictions across unseen cases.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 we present the top-performing models in our predictive framework. After tuning and evaluation, Gradient Boosting emerged as the top-performing model with 90.25% accuracy and a 94.29% ROC-AUC, confirming its robust classification capabilities. It consistently performed well across metrics, making it an optimal candidate for dropout prediction. The Stacking Classifier, which strategically integrated outputs from tuned Gradient Boosting, Random Forest, and </a:t>
            </a:r>
            <a:r>
              <a:rPr lang="en-US" dirty="0" err="1"/>
              <a:t>LightGBM</a:t>
            </a:r>
            <a:r>
              <a:rPr lang="en-US" dirty="0"/>
              <a:t> using Logistic Regression as a meta-learner, achieved similarly strong performance, with 90.08% accuracy and 94.30% ROC-AUC. This ensemble leveraged complementary strengths to ensure stable generalization. Random Forest, once tuned, also performed competitively with 89.91% accuracy and 94.18% ROC-AUC, overcoming earlier overfitting issues. These outcomes validate the benefit of hyperparameter tuning and ensemble integration, especially in complex educational datasets.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contextualize our work, we compared it with findings from related studies. Arora (2023) demonstrated the effectiveness of ensemble methods like Random Forest and </a:t>
            </a:r>
            <a:r>
              <a:rPr lang="en-US" dirty="0" err="1"/>
              <a:t>XGBoost</a:t>
            </a:r>
            <a:r>
              <a:rPr lang="en-US" dirty="0"/>
              <a:t>, achieving 88% accuracy in predicting student outcomes. Ridwan et al. (2024) applied </a:t>
            </a:r>
            <a:r>
              <a:rPr lang="en-US" dirty="0" err="1"/>
              <a:t>XGBoost</a:t>
            </a:r>
            <a:r>
              <a:rPr lang="en-US" dirty="0"/>
              <a:t> on the same dataset and reported strong performance, including high accuracy and ROC-AUC near 95%. These studies highlight the value of ensemble learning for educational prediction tasks.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reveals that academic performance metrics, financial indicators, and demographics are powerful predictors of student persistence. Guided by exploratory data analysis and supported by model evaluation, we constructed a successful prediction framework, achieving up to 90.25% accuracy. The use of tuned ensemble models and stacking techniques allowed us to improve model stability and mitigate overfitting. For future work, we propose expanding the feature set to include behavioral and real-time academic engagement data. Further, testing model adaptability across institutions will ensure broader generalizability. Finally, developing a real-time dropout risk monitoring dashboard could transform this predictive framework into a proactive student support system.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6.xml"/><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1565444"/>
            <a:ext cx="13042821" cy="1755347"/>
          </a:xfrm>
          <a:prstGeom prst="rect">
            <a:avLst/>
          </a:prstGeom>
          <a:noFill/>
          <a:ln/>
        </p:spPr>
        <p:txBody>
          <a:bodyPr wrap="square" lIns="0" tIns="0" rIns="0" bIns="0" rtlCol="0" anchor="t"/>
          <a:lstStyle/>
          <a:p>
            <a:pPr marL="0" indent="0" algn="ctr">
              <a:buNone/>
            </a:pPr>
            <a:r>
              <a:rPr lang="en-US" sz="6000" dirty="0">
                <a:solidFill>
                  <a:srgbClr val="161613"/>
                </a:solidFill>
                <a:latin typeface="DM Sans Medium" pitchFamily="34" charset="0"/>
                <a:ea typeface="DM Sans Medium" pitchFamily="34" charset="-122"/>
                <a:cs typeface="DM Sans Medium" pitchFamily="34" charset="-120"/>
              </a:rPr>
              <a:t>Student Dropout Prediction Using Machine Learning</a:t>
            </a:r>
            <a:endParaRPr lang="en-US" sz="6000" dirty="0"/>
          </a:p>
        </p:txBody>
      </p:sp>
      <p:sp>
        <p:nvSpPr>
          <p:cNvPr id="4" name="Text 2"/>
          <p:cNvSpPr/>
          <p:nvPr/>
        </p:nvSpPr>
        <p:spPr>
          <a:xfrm>
            <a:off x="793790" y="5121235"/>
            <a:ext cx="13042821"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5" name="Rectangle 4">
            <a:extLst>
              <a:ext uri="{FF2B5EF4-FFF2-40B4-BE49-F238E27FC236}">
                <a16:creationId xmlns:a16="http://schemas.microsoft.com/office/drawing/2014/main" id="{3E643B98-5F39-18AD-68A0-7829104DED14}"/>
              </a:ext>
            </a:extLst>
          </p:cNvPr>
          <p:cNvSpPr/>
          <p:nvPr/>
        </p:nvSpPr>
        <p:spPr>
          <a:xfrm>
            <a:off x="12419105" y="7709648"/>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able 11">
            <a:extLst>
              <a:ext uri="{FF2B5EF4-FFF2-40B4-BE49-F238E27FC236}">
                <a16:creationId xmlns:a16="http://schemas.microsoft.com/office/drawing/2014/main" id="{059C2749-368D-8DFF-9755-C5FD8FECFD58}"/>
              </a:ext>
            </a:extLst>
          </p:cNvPr>
          <p:cNvGraphicFramePr>
            <a:graphicFrameLocks noGrp="1"/>
          </p:cNvGraphicFramePr>
          <p:nvPr>
            <p:extLst>
              <p:ext uri="{D42A27DB-BD31-4B8C-83A1-F6EECF244321}">
                <p14:modId xmlns:p14="http://schemas.microsoft.com/office/powerpoint/2010/main" val="263172992"/>
              </p:ext>
            </p:extLst>
          </p:nvPr>
        </p:nvGraphicFramePr>
        <p:xfrm>
          <a:off x="4061012" y="4454597"/>
          <a:ext cx="9272494" cy="680593"/>
        </p:xfrm>
        <a:graphic>
          <a:graphicData uri="http://schemas.openxmlformats.org/drawingml/2006/table">
            <a:tbl>
              <a:tblPr firstRow="1" firstCol="1" bandRow="1">
                <a:tableStyleId>{2D5ABB26-0587-4C30-8999-92F81FD0307C}</a:tableStyleId>
              </a:tblPr>
              <a:tblGrid>
                <a:gridCol w="9272494">
                  <a:extLst>
                    <a:ext uri="{9D8B030D-6E8A-4147-A177-3AD203B41FA5}">
                      <a16:colId xmlns:a16="http://schemas.microsoft.com/office/drawing/2014/main" val="3167155937"/>
                    </a:ext>
                  </a:extLst>
                </a:gridCol>
              </a:tblGrid>
              <a:tr h="148883">
                <a:tc>
                  <a:txBody>
                    <a:bodyPr/>
                    <a:lstStyle/>
                    <a:p>
                      <a:pPr marL="0" marR="0" algn="l" defTabSz="914400" rtl="0" eaLnBrk="1" latinLnBrk="0" hangingPunct="1">
                        <a:lnSpc>
                          <a:spcPct val="107000"/>
                        </a:lnSpc>
                        <a:spcAft>
                          <a:spcPts val="800"/>
                        </a:spcAft>
                        <a:buNone/>
                      </a:pPr>
                      <a:r>
                        <a:rPr lang="en-US" sz="1800" b="0" kern="1200" dirty="0">
                          <a:solidFill>
                            <a:srgbClr val="161613"/>
                          </a:solidFill>
                          <a:latin typeface="DM Sans Medium" pitchFamily="34" charset="0"/>
                          <a:ea typeface="+mn-ea"/>
                          <a:cs typeface="+mn-cs"/>
                        </a:rPr>
                        <a:t>DS650 Predictive Analytics for Business</a:t>
                      </a:r>
                    </a:p>
                    <a:p>
                      <a:pPr marL="0" marR="0" algn="l" defTabSz="914400" rtl="0" eaLnBrk="1" latinLnBrk="0" hangingPunct="1">
                        <a:lnSpc>
                          <a:spcPct val="107000"/>
                        </a:lnSpc>
                        <a:spcAft>
                          <a:spcPts val="800"/>
                        </a:spcAft>
                        <a:buNone/>
                      </a:pPr>
                      <a:r>
                        <a:rPr lang="en-US" sz="1800" b="0" kern="1200" dirty="0">
                          <a:solidFill>
                            <a:srgbClr val="161613"/>
                          </a:solidFill>
                          <a:latin typeface="DM Sans Medium" pitchFamily="34" charset="0"/>
                          <a:ea typeface="+mn-ea"/>
                          <a:cs typeface="+mn-cs"/>
                        </a:rPr>
                        <a:t>3 May 2025</a:t>
                      </a:r>
                    </a:p>
                  </a:txBody>
                  <a:tcPr marL="68580" marR="68580" marT="0" marB="0" anchor="ctr"/>
                </a:tc>
                <a:extLst>
                  <a:ext uri="{0D108BD9-81ED-4DB2-BD59-A6C34878D82A}">
                    <a16:rowId xmlns:a16="http://schemas.microsoft.com/office/drawing/2014/main" val="2706156979"/>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202549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Agenda</a:t>
            </a:r>
            <a:endParaRPr lang="en-US" sz="4450" dirty="0"/>
          </a:p>
        </p:txBody>
      </p:sp>
      <p:sp>
        <p:nvSpPr>
          <p:cNvPr id="3" name="Text 1"/>
          <p:cNvSpPr/>
          <p:nvPr/>
        </p:nvSpPr>
        <p:spPr>
          <a:xfrm>
            <a:off x="793790" y="3187898"/>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Project Description</a:t>
            </a:r>
            <a:endParaRPr lang="en-US" sz="1750" dirty="0"/>
          </a:p>
        </p:txBody>
      </p:sp>
      <p:sp>
        <p:nvSpPr>
          <p:cNvPr id="4" name="Text 2"/>
          <p:cNvSpPr/>
          <p:nvPr/>
        </p:nvSpPr>
        <p:spPr>
          <a:xfrm>
            <a:off x="793790" y="363009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Literature Review</a:t>
            </a:r>
            <a:endParaRPr lang="en-US" sz="1750" dirty="0"/>
          </a:p>
        </p:txBody>
      </p:sp>
      <p:sp>
        <p:nvSpPr>
          <p:cNvPr id="5" name="Text 3"/>
          <p:cNvSpPr/>
          <p:nvPr/>
        </p:nvSpPr>
        <p:spPr>
          <a:xfrm>
            <a:off x="793790" y="4072295"/>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Predictive Analytics Problem Formulation</a:t>
            </a:r>
            <a:endParaRPr lang="en-US" sz="1750" dirty="0"/>
          </a:p>
        </p:txBody>
      </p:sp>
      <p:sp>
        <p:nvSpPr>
          <p:cNvPr id="6" name="Text 4"/>
          <p:cNvSpPr/>
          <p:nvPr/>
        </p:nvSpPr>
        <p:spPr>
          <a:xfrm>
            <a:off x="793790" y="451449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Methodology</a:t>
            </a:r>
            <a:endParaRPr lang="en-US" sz="1750" dirty="0"/>
          </a:p>
        </p:txBody>
      </p:sp>
      <p:sp>
        <p:nvSpPr>
          <p:cNvPr id="7" name="Text 5"/>
          <p:cNvSpPr/>
          <p:nvPr/>
        </p:nvSpPr>
        <p:spPr>
          <a:xfrm>
            <a:off x="793790" y="495669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Results and Discussion</a:t>
            </a:r>
            <a:endParaRPr lang="en-US" sz="1750" dirty="0"/>
          </a:p>
        </p:txBody>
      </p:sp>
      <p:sp>
        <p:nvSpPr>
          <p:cNvPr id="8" name="Text 6"/>
          <p:cNvSpPr/>
          <p:nvPr/>
        </p:nvSpPr>
        <p:spPr>
          <a:xfrm>
            <a:off x="793790" y="539888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Comparison with Related Works</a:t>
            </a:r>
            <a:endParaRPr lang="en-US" sz="1750" dirty="0"/>
          </a:p>
        </p:txBody>
      </p:sp>
      <p:sp>
        <p:nvSpPr>
          <p:cNvPr id="9" name="Text 7"/>
          <p:cNvSpPr/>
          <p:nvPr/>
        </p:nvSpPr>
        <p:spPr>
          <a:xfrm>
            <a:off x="793790" y="584108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Conclusion and Future Work</a:t>
            </a:r>
            <a:endParaRPr lang="en-US" sz="1750" dirty="0"/>
          </a:p>
        </p:txBody>
      </p:sp>
      <p:sp>
        <p:nvSpPr>
          <p:cNvPr id="10" name="Rectangle 9">
            <a:extLst>
              <a:ext uri="{FF2B5EF4-FFF2-40B4-BE49-F238E27FC236}">
                <a16:creationId xmlns:a16="http://schemas.microsoft.com/office/drawing/2014/main" id="{5CB77795-A8F2-DBF1-992C-07DDBAB36BA7}"/>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2057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Project Overview</a:t>
            </a:r>
            <a:endParaRPr lang="en-US" sz="4450" dirty="0"/>
          </a:p>
        </p:txBody>
      </p:sp>
      <p:sp>
        <p:nvSpPr>
          <p:cNvPr id="3" name="Shape 1"/>
          <p:cNvSpPr/>
          <p:nvPr/>
        </p:nvSpPr>
        <p:spPr>
          <a:xfrm>
            <a:off x="793790" y="2769513"/>
            <a:ext cx="4196358" cy="2758559"/>
          </a:xfrm>
          <a:prstGeom prst="roundRect">
            <a:avLst>
              <a:gd name="adj" fmla="val 1233"/>
            </a:avLst>
          </a:prstGeom>
          <a:solidFill>
            <a:srgbClr val="EDEBE3"/>
          </a:solidFill>
          <a:ln/>
        </p:spPr>
      </p:sp>
      <p:sp>
        <p:nvSpPr>
          <p:cNvPr id="4" name="Text 2"/>
          <p:cNvSpPr/>
          <p:nvPr/>
        </p:nvSpPr>
        <p:spPr>
          <a:xfrm>
            <a:off x="1020604" y="299632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Objective </a:t>
            </a:r>
            <a:endParaRPr lang="en-US" sz="2200" dirty="0"/>
          </a:p>
        </p:txBody>
      </p:sp>
      <p:sp>
        <p:nvSpPr>
          <p:cNvPr id="5" name="Text 3"/>
          <p:cNvSpPr/>
          <p:nvPr/>
        </p:nvSpPr>
        <p:spPr>
          <a:xfrm>
            <a:off x="1020604" y="3486745"/>
            <a:ext cx="3742730"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Predict dropout or graduation outcomes.</a:t>
            </a:r>
            <a:endParaRPr lang="en-US" sz="1750" dirty="0"/>
          </a:p>
        </p:txBody>
      </p:sp>
      <p:sp>
        <p:nvSpPr>
          <p:cNvPr id="6" name="Shape 4"/>
          <p:cNvSpPr/>
          <p:nvPr/>
        </p:nvSpPr>
        <p:spPr>
          <a:xfrm>
            <a:off x="5216962" y="2769513"/>
            <a:ext cx="4196358" cy="2758559"/>
          </a:xfrm>
          <a:prstGeom prst="roundRect">
            <a:avLst>
              <a:gd name="adj" fmla="val 1233"/>
            </a:avLst>
          </a:prstGeom>
          <a:solidFill>
            <a:srgbClr val="EDEBE3"/>
          </a:solidFill>
          <a:ln/>
        </p:spPr>
      </p:sp>
      <p:sp>
        <p:nvSpPr>
          <p:cNvPr id="7" name="Text 5"/>
          <p:cNvSpPr/>
          <p:nvPr/>
        </p:nvSpPr>
        <p:spPr>
          <a:xfrm>
            <a:off x="5443776" y="299632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Dataset</a:t>
            </a:r>
            <a:endParaRPr lang="en-US" sz="2200" dirty="0"/>
          </a:p>
        </p:txBody>
      </p:sp>
      <p:sp>
        <p:nvSpPr>
          <p:cNvPr id="8" name="Text 6"/>
          <p:cNvSpPr/>
          <p:nvPr/>
        </p:nvSpPr>
        <p:spPr>
          <a:xfrm>
            <a:off x="5443776" y="3486745"/>
            <a:ext cx="3742730" cy="1814513"/>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UCI Machine Learning Repository dataset containing 3,630 student records with 37 attributes from a Portuguese higher education institution</a:t>
            </a:r>
            <a:endParaRPr lang="en-US" sz="1750" dirty="0"/>
          </a:p>
        </p:txBody>
      </p:sp>
      <p:sp>
        <p:nvSpPr>
          <p:cNvPr id="9" name="Shape 7"/>
          <p:cNvSpPr/>
          <p:nvPr/>
        </p:nvSpPr>
        <p:spPr>
          <a:xfrm>
            <a:off x="9640133" y="2769513"/>
            <a:ext cx="4196358" cy="2758559"/>
          </a:xfrm>
          <a:prstGeom prst="roundRect">
            <a:avLst>
              <a:gd name="adj" fmla="val 1233"/>
            </a:avLst>
          </a:prstGeom>
          <a:solidFill>
            <a:srgbClr val="EDEBE3"/>
          </a:solidFill>
          <a:ln/>
        </p:spPr>
      </p:sp>
      <p:sp>
        <p:nvSpPr>
          <p:cNvPr id="10" name="Text 8"/>
          <p:cNvSpPr/>
          <p:nvPr/>
        </p:nvSpPr>
        <p:spPr>
          <a:xfrm>
            <a:off x="9866948" y="2996327"/>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Approach</a:t>
            </a:r>
            <a:endParaRPr lang="en-US" sz="2200" dirty="0"/>
          </a:p>
        </p:txBody>
      </p:sp>
      <p:sp>
        <p:nvSpPr>
          <p:cNvPr id="11" name="Text 9"/>
          <p:cNvSpPr/>
          <p:nvPr/>
        </p:nvSpPr>
        <p:spPr>
          <a:xfrm>
            <a:off x="9866948" y="3486745"/>
            <a:ext cx="3742730" cy="1451610"/>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Binary classification using six machine learning models, with ensemble methods showing superior performance</a:t>
            </a:r>
            <a:endParaRPr lang="en-US" sz="1750" dirty="0"/>
          </a:p>
        </p:txBody>
      </p:sp>
      <p:sp>
        <p:nvSpPr>
          <p:cNvPr id="12" name="Text 10"/>
          <p:cNvSpPr/>
          <p:nvPr/>
        </p:nvSpPr>
        <p:spPr>
          <a:xfrm>
            <a:off x="793790" y="5783223"/>
            <a:ext cx="13042821" cy="725805"/>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Our </a:t>
            </a:r>
            <a:r>
              <a:rPr lang="en-US" sz="1750" b="1" dirty="0">
                <a:solidFill>
                  <a:srgbClr val="161613"/>
                </a:solidFill>
                <a:latin typeface="Inter" pitchFamily="34" charset="0"/>
                <a:ea typeface="Inter" pitchFamily="34" charset="-122"/>
                <a:cs typeface="Inter" pitchFamily="34" charset="-120"/>
              </a:rPr>
              <a:t>hypothesis</a:t>
            </a:r>
            <a:r>
              <a:rPr lang="en-US" sz="1750" dirty="0">
                <a:solidFill>
                  <a:srgbClr val="161613"/>
                </a:solidFill>
                <a:latin typeface="Inter" pitchFamily="34" charset="0"/>
                <a:ea typeface="Inter" pitchFamily="34" charset="-122"/>
                <a:cs typeface="Inter" pitchFamily="34" charset="-120"/>
              </a:rPr>
              <a:t> is that patterns in early academic performance, financial factors, and demographic features provide sufficient information to accurately predict future academic outcomes.</a:t>
            </a:r>
            <a:endParaRPr lang="en-US" sz="1750" dirty="0"/>
          </a:p>
        </p:txBody>
      </p:sp>
      <p:sp>
        <p:nvSpPr>
          <p:cNvPr id="13" name="Rectangle 12">
            <a:extLst>
              <a:ext uri="{FF2B5EF4-FFF2-40B4-BE49-F238E27FC236}">
                <a16:creationId xmlns:a16="http://schemas.microsoft.com/office/drawing/2014/main" id="{B9A7BF76-830F-9410-B84B-119AA23C6D68}"/>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71049" y="606862"/>
            <a:ext cx="5507474" cy="688419"/>
          </a:xfrm>
          <a:prstGeom prst="rect">
            <a:avLst/>
          </a:prstGeom>
          <a:noFill/>
          <a:ln/>
        </p:spPr>
        <p:txBody>
          <a:bodyPr wrap="none" lIns="0" tIns="0" rIns="0" bIns="0" rtlCol="0" anchor="t"/>
          <a:lstStyle/>
          <a:p>
            <a:pPr marL="0" indent="0" algn="l">
              <a:lnSpc>
                <a:spcPts val="5400"/>
              </a:lnSpc>
              <a:buNone/>
            </a:pPr>
            <a:r>
              <a:rPr lang="en-US" sz="4300" dirty="0">
                <a:solidFill>
                  <a:srgbClr val="161613"/>
                </a:solidFill>
                <a:latin typeface="DM Sans Medium" pitchFamily="34" charset="0"/>
                <a:ea typeface="DM Sans Medium" pitchFamily="34" charset="-122"/>
                <a:cs typeface="DM Sans Medium" pitchFamily="34" charset="-120"/>
              </a:rPr>
              <a:t>Literature Review</a:t>
            </a:r>
            <a:endParaRPr lang="en-US" sz="4300" dirty="0"/>
          </a:p>
        </p:txBody>
      </p:sp>
      <p:sp>
        <p:nvSpPr>
          <p:cNvPr id="3" name="Shape 1"/>
          <p:cNvSpPr/>
          <p:nvPr/>
        </p:nvSpPr>
        <p:spPr>
          <a:xfrm>
            <a:off x="1018818" y="1625679"/>
            <a:ext cx="30480" cy="5996940"/>
          </a:xfrm>
          <a:prstGeom prst="roundRect">
            <a:avLst>
              <a:gd name="adj" fmla="val 108416"/>
            </a:avLst>
          </a:prstGeom>
          <a:solidFill>
            <a:srgbClr val="D3D1C9"/>
          </a:solidFill>
          <a:ln/>
        </p:spPr>
      </p:sp>
      <p:sp>
        <p:nvSpPr>
          <p:cNvPr id="4" name="Shape 2"/>
          <p:cNvSpPr/>
          <p:nvPr/>
        </p:nvSpPr>
        <p:spPr>
          <a:xfrm>
            <a:off x="1236166" y="1858208"/>
            <a:ext cx="660797" cy="30480"/>
          </a:xfrm>
          <a:prstGeom prst="roundRect">
            <a:avLst>
              <a:gd name="adj" fmla="val 108416"/>
            </a:avLst>
          </a:prstGeom>
          <a:solidFill>
            <a:srgbClr val="D3D1C9"/>
          </a:solidFill>
          <a:ln/>
        </p:spPr>
      </p:sp>
      <p:sp>
        <p:nvSpPr>
          <p:cNvPr id="5" name="Shape 3"/>
          <p:cNvSpPr/>
          <p:nvPr/>
        </p:nvSpPr>
        <p:spPr>
          <a:xfrm>
            <a:off x="770989" y="1625679"/>
            <a:ext cx="495657" cy="495657"/>
          </a:xfrm>
          <a:prstGeom prst="roundRect">
            <a:avLst>
              <a:gd name="adj" fmla="val 6667"/>
            </a:avLst>
          </a:prstGeom>
          <a:solidFill>
            <a:srgbClr val="EDEBE3"/>
          </a:solidFill>
          <a:ln/>
        </p:spPr>
      </p:sp>
      <p:sp>
        <p:nvSpPr>
          <p:cNvPr id="6" name="Text 4"/>
          <p:cNvSpPr/>
          <p:nvPr/>
        </p:nvSpPr>
        <p:spPr>
          <a:xfrm>
            <a:off x="853559" y="1666935"/>
            <a:ext cx="330398" cy="413028"/>
          </a:xfrm>
          <a:prstGeom prst="rect">
            <a:avLst/>
          </a:prstGeom>
          <a:noFill/>
          <a:ln/>
        </p:spPr>
        <p:txBody>
          <a:bodyPr wrap="none" lIns="0" tIns="0" rIns="0" bIns="0" rtlCol="0" anchor="t"/>
          <a:lstStyle/>
          <a:p>
            <a:pPr marL="0" indent="0" algn="ctr">
              <a:lnSpc>
                <a:spcPts val="2600"/>
              </a:lnSpc>
              <a:buNone/>
            </a:pPr>
            <a:r>
              <a:rPr lang="en-US" sz="2600" dirty="0">
                <a:solidFill>
                  <a:srgbClr val="161613"/>
                </a:solidFill>
                <a:latin typeface="DM Sans Medium" pitchFamily="34" charset="0"/>
                <a:ea typeface="DM Sans Medium" pitchFamily="34" charset="-122"/>
                <a:cs typeface="DM Sans Medium" pitchFamily="34" charset="-120"/>
              </a:rPr>
              <a:t>1</a:t>
            </a:r>
            <a:endParaRPr lang="en-US" sz="2600" dirty="0"/>
          </a:p>
        </p:txBody>
      </p:sp>
      <p:sp>
        <p:nvSpPr>
          <p:cNvPr id="7" name="Text 5"/>
          <p:cNvSpPr/>
          <p:nvPr/>
        </p:nvSpPr>
        <p:spPr>
          <a:xfrm>
            <a:off x="2120384" y="1701403"/>
            <a:ext cx="3018473" cy="344210"/>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Traditional Approaches</a:t>
            </a:r>
            <a:endParaRPr lang="en-US" sz="2150" dirty="0"/>
          </a:p>
        </p:txBody>
      </p:sp>
      <p:sp>
        <p:nvSpPr>
          <p:cNvPr id="8" name="Text 6"/>
          <p:cNvSpPr/>
          <p:nvPr/>
        </p:nvSpPr>
        <p:spPr>
          <a:xfrm>
            <a:off x="2120384" y="2177772"/>
            <a:ext cx="11738967" cy="352425"/>
          </a:xfrm>
          <a:prstGeom prst="rect">
            <a:avLst/>
          </a:prstGeom>
          <a:noFill/>
          <a:ln/>
        </p:spPr>
        <p:txBody>
          <a:bodyPr wrap="none" lIns="0" tIns="0" rIns="0" bIns="0" rtlCol="0" anchor="t"/>
          <a:lstStyle/>
          <a:p>
            <a:pPr marL="0" indent="0" algn="l">
              <a:lnSpc>
                <a:spcPts val="2750"/>
              </a:lnSpc>
              <a:buNone/>
            </a:pPr>
            <a:r>
              <a:rPr lang="en-US" sz="1700" dirty="0">
                <a:solidFill>
                  <a:srgbClr val="161613"/>
                </a:solidFill>
                <a:latin typeface="Inter" pitchFamily="34" charset="0"/>
                <a:ea typeface="Inter" pitchFamily="34" charset="-122"/>
                <a:cs typeface="Inter" pitchFamily="34" charset="-120"/>
              </a:rPr>
              <a:t>Early studies relied on logistic regression for academic outcome predictions, with limited predictive power</a:t>
            </a:r>
            <a:endParaRPr lang="en-US" sz="1700" dirty="0"/>
          </a:p>
        </p:txBody>
      </p:sp>
      <p:sp>
        <p:nvSpPr>
          <p:cNvPr id="9" name="Shape 7"/>
          <p:cNvSpPr/>
          <p:nvPr/>
        </p:nvSpPr>
        <p:spPr>
          <a:xfrm>
            <a:off x="1236166" y="3203258"/>
            <a:ext cx="660797" cy="30480"/>
          </a:xfrm>
          <a:prstGeom prst="roundRect">
            <a:avLst>
              <a:gd name="adj" fmla="val 108416"/>
            </a:avLst>
          </a:prstGeom>
          <a:solidFill>
            <a:srgbClr val="D3D1C9"/>
          </a:solidFill>
          <a:ln/>
        </p:spPr>
      </p:sp>
      <p:sp>
        <p:nvSpPr>
          <p:cNvPr id="10" name="Shape 8"/>
          <p:cNvSpPr/>
          <p:nvPr/>
        </p:nvSpPr>
        <p:spPr>
          <a:xfrm>
            <a:off x="770989" y="2970728"/>
            <a:ext cx="495657" cy="495657"/>
          </a:xfrm>
          <a:prstGeom prst="roundRect">
            <a:avLst>
              <a:gd name="adj" fmla="val 6667"/>
            </a:avLst>
          </a:prstGeom>
          <a:solidFill>
            <a:srgbClr val="EDEBE3"/>
          </a:solidFill>
          <a:ln/>
        </p:spPr>
      </p:sp>
      <p:sp>
        <p:nvSpPr>
          <p:cNvPr id="11" name="Text 9"/>
          <p:cNvSpPr/>
          <p:nvPr/>
        </p:nvSpPr>
        <p:spPr>
          <a:xfrm>
            <a:off x="853559" y="3011984"/>
            <a:ext cx="330398" cy="413028"/>
          </a:xfrm>
          <a:prstGeom prst="rect">
            <a:avLst/>
          </a:prstGeom>
          <a:noFill/>
          <a:ln/>
        </p:spPr>
        <p:txBody>
          <a:bodyPr wrap="none" lIns="0" tIns="0" rIns="0" bIns="0" rtlCol="0" anchor="t"/>
          <a:lstStyle/>
          <a:p>
            <a:pPr marL="0" indent="0" algn="ctr">
              <a:lnSpc>
                <a:spcPts val="2600"/>
              </a:lnSpc>
              <a:buNone/>
            </a:pPr>
            <a:r>
              <a:rPr lang="en-US" sz="2600" dirty="0">
                <a:solidFill>
                  <a:srgbClr val="161613"/>
                </a:solidFill>
                <a:latin typeface="DM Sans Medium" pitchFamily="34" charset="0"/>
                <a:ea typeface="DM Sans Medium" pitchFamily="34" charset="-122"/>
                <a:cs typeface="DM Sans Medium" pitchFamily="34" charset="-120"/>
              </a:rPr>
              <a:t>2</a:t>
            </a:r>
            <a:endParaRPr lang="en-US" sz="2600" dirty="0"/>
          </a:p>
        </p:txBody>
      </p:sp>
      <p:sp>
        <p:nvSpPr>
          <p:cNvPr id="12" name="Text 10"/>
          <p:cNvSpPr/>
          <p:nvPr/>
        </p:nvSpPr>
        <p:spPr>
          <a:xfrm>
            <a:off x="2120384" y="3046452"/>
            <a:ext cx="2753678" cy="344210"/>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Ensemble Methods</a:t>
            </a:r>
            <a:endParaRPr lang="en-US" sz="2150" dirty="0"/>
          </a:p>
        </p:txBody>
      </p:sp>
      <p:sp>
        <p:nvSpPr>
          <p:cNvPr id="13" name="Text 11"/>
          <p:cNvSpPr/>
          <p:nvPr/>
        </p:nvSpPr>
        <p:spPr>
          <a:xfrm>
            <a:off x="2120384" y="3522821"/>
            <a:ext cx="11738967" cy="704850"/>
          </a:xfrm>
          <a:prstGeom prst="rect">
            <a:avLst/>
          </a:prstGeom>
          <a:noFill/>
          <a:ln/>
        </p:spPr>
        <p:txBody>
          <a:bodyPr wrap="square" lIns="0" tIns="0" rIns="0" bIns="0" rtlCol="0" anchor="t"/>
          <a:lstStyle/>
          <a:p>
            <a:pPr marL="0" indent="0" algn="l">
              <a:lnSpc>
                <a:spcPts val="2750"/>
              </a:lnSpc>
              <a:buNone/>
            </a:pPr>
            <a:r>
              <a:rPr lang="en-US" sz="1700" dirty="0">
                <a:solidFill>
                  <a:srgbClr val="161613"/>
                </a:solidFill>
                <a:latin typeface="Inter" pitchFamily="34" charset="0"/>
                <a:ea typeface="Inter" pitchFamily="34" charset="-122"/>
                <a:cs typeface="Inter" pitchFamily="34" charset="-120"/>
              </a:rPr>
              <a:t>Recent research shows Random Forest, Gradient Boosting, and XGBoost demonstrate superior performance with complex educational data</a:t>
            </a:r>
            <a:endParaRPr lang="en-US" sz="1700" dirty="0"/>
          </a:p>
        </p:txBody>
      </p:sp>
      <p:sp>
        <p:nvSpPr>
          <p:cNvPr id="14" name="Shape 12"/>
          <p:cNvSpPr/>
          <p:nvPr/>
        </p:nvSpPr>
        <p:spPr>
          <a:xfrm>
            <a:off x="1236166" y="4900732"/>
            <a:ext cx="660797" cy="30480"/>
          </a:xfrm>
          <a:prstGeom prst="roundRect">
            <a:avLst>
              <a:gd name="adj" fmla="val 108416"/>
            </a:avLst>
          </a:prstGeom>
          <a:solidFill>
            <a:srgbClr val="D3D1C9"/>
          </a:solidFill>
          <a:ln/>
        </p:spPr>
      </p:sp>
      <p:sp>
        <p:nvSpPr>
          <p:cNvPr id="15" name="Shape 13"/>
          <p:cNvSpPr/>
          <p:nvPr/>
        </p:nvSpPr>
        <p:spPr>
          <a:xfrm>
            <a:off x="770989" y="4668203"/>
            <a:ext cx="495657" cy="495657"/>
          </a:xfrm>
          <a:prstGeom prst="roundRect">
            <a:avLst>
              <a:gd name="adj" fmla="val 6667"/>
            </a:avLst>
          </a:prstGeom>
          <a:solidFill>
            <a:srgbClr val="EDEBE3"/>
          </a:solidFill>
          <a:ln/>
        </p:spPr>
      </p:sp>
      <p:sp>
        <p:nvSpPr>
          <p:cNvPr id="16" name="Text 14"/>
          <p:cNvSpPr/>
          <p:nvPr/>
        </p:nvSpPr>
        <p:spPr>
          <a:xfrm>
            <a:off x="853559" y="4709458"/>
            <a:ext cx="330398" cy="413028"/>
          </a:xfrm>
          <a:prstGeom prst="rect">
            <a:avLst/>
          </a:prstGeom>
          <a:noFill/>
          <a:ln/>
        </p:spPr>
        <p:txBody>
          <a:bodyPr wrap="none" lIns="0" tIns="0" rIns="0" bIns="0" rtlCol="0" anchor="t"/>
          <a:lstStyle/>
          <a:p>
            <a:pPr marL="0" indent="0" algn="ctr">
              <a:lnSpc>
                <a:spcPts val="2600"/>
              </a:lnSpc>
              <a:buNone/>
            </a:pPr>
            <a:r>
              <a:rPr lang="en-US" sz="2600" dirty="0">
                <a:solidFill>
                  <a:srgbClr val="161613"/>
                </a:solidFill>
                <a:latin typeface="DM Sans Medium" pitchFamily="34" charset="0"/>
                <a:ea typeface="DM Sans Medium" pitchFamily="34" charset="-122"/>
                <a:cs typeface="DM Sans Medium" pitchFamily="34" charset="-120"/>
              </a:rPr>
              <a:t>3</a:t>
            </a:r>
            <a:endParaRPr lang="en-US" sz="2600" dirty="0"/>
          </a:p>
        </p:txBody>
      </p:sp>
      <p:sp>
        <p:nvSpPr>
          <p:cNvPr id="17" name="Text 15"/>
          <p:cNvSpPr/>
          <p:nvPr/>
        </p:nvSpPr>
        <p:spPr>
          <a:xfrm>
            <a:off x="2120384" y="4743926"/>
            <a:ext cx="2857381" cy="344210"/>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Advanced Techniques</a:t>
            </a:r>
            <a:endParaRPr lang="en-US" sz="2150" dirty="0"/>
          </a:p>
        </p:txBody>
      </p:sp>
      <p:sp>
        <p:nvSpPr>
          <p:cNvPr id="18" name="Text 16"/>
          <p:cNvSpPr/>
          <p:nvPr/>
        </p:nvSpPr>
        <p:spPr>
          <a:xfrm>
            <a:off x="2120384" y="5220295"/>
            <a:ext cx="11738967" cy="704850"/>
          </a:xfrm>
          <a:prstGeom prst="rect">
            <a:avLst/>
          </a:prstGeom>
          <a:noFill/>
          <a:ln/>
        </p:spPr>
        <p:txBody>
          <a:bodyPr wrap="square" lIns="0" tIns="0" rIns="0" bIns="0" rtlCol="0" anchor="t"/>
          <a:lstStyle/>
          <a:p>
            <a:pPr marL="0" indent="0" algn="l">
              <a:lnSpc>
                <a:spcPts val="2750"/>
              </a:lnSpc>
              <a:buNone/>
            </a:pPr>
            <a:r>
              <a:rPr lang="en-US" sz="1700" dirty="0">
                <a:solidFill>
                  <a:srgbClr val="161613"/>
                </a:solidFill>
                <a:latin typeface="Inter" pitchFamily="34" charset="0"/>
                <a:ea typeface="Inter" pitchFamily="34" charset="-122"/>
                <a:cs typeface="Inter" pitchFamily="34" charset="-120"/>
              </a:rPr>
              <a:t>Latest studies by Ridwan et al. (2024) and Arora (2023) suggest stacking techniques further enhance predictive outcomes</a:t>
            </a:r>
            <a:endParaRPr lang="en-US" sz="1700" dirty="0"/>
          </a:p>
        </p:txBody>
      </p:sp>
      <p:sp>
        <p:nvSpPr>
          <p:cNvPr id="19" name="Shape 17"/>
          <p:cNvSpPr/>
          <p:nvPr/>
        </p:nvSpPr>
        <p:spPr>
          <a:xfrm>
            <a:off x="1236166" y="6598206"/>
            <a:ext cx="660797" cy="30480"/>
          </a:xfrm>
          <a:prstGeom prst="roundRect">
            <a:avLst>
              <a:gd name="adj" fmla="val 108416"/>
            </a:avLst>
          </a:prstGeom>
          <a:solidFill>
            <a:srgbClr val="D3D1C9"/>
          </a:solidFill>
          <a:ln/>
        </p:spPr>
      </p:sp>
      <p:sp>
        <p:nvSpPr>
          <p:cNvPr id="20" name="Shape 18"/>
          <p:cNvSpPr/>
          <p:nvPr/>
        </p:nvSpPr>
        <p:spPr>
          <a:xfrm>
            <a:off x="770989" y="6365677"/>
            <a:ext cx="495657" cy="495657"/>
          </a:xfrm>
          <a:prstGeom prst="roundRect">
            <a:avLst>
              <a:gd name="adj" fmla="val 6667"/>
            </a:avLst>
          </a:prstGeom>
          <a:solidFill>
            <a:srgbClr val="EDEBE3"/>
          </a:solidFill>
          <a:ln/>
        </p:spPr>
      </p:sp>
      <p:sp>
        <p:nvSpPr>
          <p:cNvPr id="21" name="Text 19"/>
          <p:cNvSpPr/>
          <p:nvPr/>
        </p:nvSpPr>
        <p:spPr>
          <a:xfrm>
            <a:off x="853559" y="6406932"/>
            <a:ext cx="330398" cy="413028"/>
          </a:xfrm>
          <a:prstGeom prst="rect">
            <a:avLst/>
          </a:prstGeom>
          <a:noFill/>
          <a:ln/>
        </p:spPr>
        <p:txBody>
          <a:bodyPr wrap="none" lIns="0" tIns="0" rIns="0" bIns="0" rtlCol="0" anchor="t"/>
          <a:lstStyle/>
          <a:p>
            <a:pPr marL="0" indent="0" algn="ctr">
              <a:lnSpc>
                <a:spcPts val="2600"/>
              </a:lnSpc>
              <a:buNone/>
            </a:pPr>
            <a:r>
              <a:rPr lang="en-US" sz="2600" dirty="0">
                <a:solidFill>
                  <a:srgbClr val="161613"/>
                </a:solidFill>
                <a:latin typeface="DM Sans Medium" pitchFamily="34" charset="0"/>
                <a:ea typeface="DM Sans Medium" pitchFamily="34" charset="-122"/>
                <a:cs typeface="DM Sans Medium" pitchFamily="34" charset="-120"/>
              </a:rPr>
              <a:t>4</a:t>
            </a:r>
            <a:endParaRPr lang="en-US" sz="2600" dirty="0"/>
          </a:p>
        </p:txBody>
      </p:sp>
      <p:sp>
        <p:nvSpPr>
          <p:cNvPr id="22" name="Text 20"/>
          <p:cNvSpPr/>
          <p:nvPr/>
        </p:nvSpPr>
        <p:spPr>
          <a:xfrm>
            <a:off x="2120384" y="6441400"/>
            <a:ext cx="2753678" cy="344210"/>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Current Challenges</a:t>
            </a:r>
            <a:endParaRPr lang="en-US" sz="2150" dirty="0"/>
          </a:p>
        </p:txBody>
      </p:sp>
      <p:sp>
        <p:nvSpPr>
          <p:cNvPr id="23" name="Text 21"/>
          <p:cNvSpPr/>
          <p:nvPr/>
        </p:nvSpPr>
        <p:spPr>
          <a:xfrm>
            <a:off x="2120384" y="6917769"/>
            <a:ext cx="11738967" cy="704850"/>
          </a:xfrm>
          <a:prstGeom prst="rect">
            <a:avLst/>
          </a:prstGeom>
          <a:noFill/>
          <a:ln/>
        </p:spPr>
        <p:txBody>
          <a:bodyPr wrap="square" lIns="0" tIns="0" rIns="0" bIns="0" rtlCol="0" anchor="t"/>
          <a:lstStyle/>
          <a:p>
            <a:pPr marL="0" indent="0" algn="l">
              <a:lnSpc>
                <a:spcPts val="2750"/>
              </a:lnSpc>
              <a:buNone/>
            </a:pPr>
            <a:r>
              <a:rPr lang="en-US" sz="1700" dirty="0">
                <a:solidFill>
                  <a:srgbClr val="161613"/>
                </a:solidFill>
                <a:latin typeface="Inter" pitchFamily="34" charset="0"/>
                <a:ea typeface="Inter" pitchFamily="34" charset="-122"/>
                <a:cs typeface="Inter" pitchFamily="34" charset="-120"/>
              </a:rPr>
              <a:t>Achieving generalizability across institutions and balancing predictive accuracy with model interpretability remain significant hurdles</a:t>
            </a:r>
            <a:endParaRPr lang="en-US" sz="1700" dirty="0"/>
          </a:p>
        </p:txBody>
      </p:sp>
      <p:sp>
        <p:nvSpPr>
          <p:cNvPr id="24" name="Rectangle 23">
            <a:extLst>
              <a:ext uri="{FF2B5EF4-FFF2-40B4-BE49-F238E27FC236}">
                <a16:creationId xmlns:a16="http://schemas.microsoft.com/office/drawing/2014/main" id="{36F50FFC-2A19-49BE-EB78-0C5A12F3CA04}"/>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8284" y="1200299"/>
            <a:ext cx="11011852"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Predictive Analytics Problem Formulation</a:t>
            </a:r>
            <a:endParaRPr lang="en-US" sz="4450" dirty="0"/>
          </a:p>
        </p:txBody>
      </p:sp>
      <p:sp>
        <p:nvSpPr>
          <p:cNvPr id="3" name="Text 1"/>
          <p:cNvSpPr/>
          <p:nvPr/>
        </p:nvSpPr>
        <p:spPr>
          <a:xfrm>
            <a:off x="793790" y="3360777"/>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We formulated student dropout prediction as a binary classification problem with two distinct outcome classes: "Graduate" or "Dropout".</a:t>
            </a:r>
            <a:endParaRPr lang="en-US" sz="1750" dirty="0"/>
          </a:p>
        </p:txBody>
      </p:sp>
      <p:sp>
        <p:nvSpPr>
          <p:cNvPr id="4" name="Text 2"/>
          <p:cNvSpPr/>
          <p:nvPr/>
        </p:nvSpPr>
        <p:spPr>
          <a:xfrm>
            <a:off x="793790" y="4341733"/>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Primary Question:</a:t>
            </a:r>
            <a:r>
              <a:rPr lang="en-US" sz="1750" dirty="0">
                <a:solidFill>
                  <a:srgbClr val="161613"/>
                </a:solidFill>
                <a:latin typeface="Inter" pitchFamily="34" charset="0"/>
                <a:ea typeface="Inter" pitchFamily="34" charset="-122"/>
                <a:cs typeface="Inter" pitchFamily="34" charset="-120"/>
              </a:rPr>
              <a:t> Can we early academic, financial, and demographic data predict dropout risk?</a:t>
            </a:r>
            <a:endParaRPr lang="en-US" sz="1750" dirty="0"/>
          </a:p>
        </p:txBody>
      </p:sp>
      <p:sp>
        <p:nvSpPr>
          <p:cNvPr id="5" name="Text 3"/>
          <p:cNvSpPr/>
          <p:nvPr/>
        </p:nvSpPr>
        <p:spPr>
          <a:xfrm>
            <a:off x="793790" y="4783931"/>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Feature Analysis:</a:t>
            </a:r>
            <a:r>
              <a:rPr lang="en-US" sz="1750" dirty="0">
                <a:solidFill>
                  <a:srgbClr val="161613"/>
                </a:solidFill>
                <a:latin typeface="Inter" pitchFamily="34" charset="0"/>
                <a:ea typeface="Inter" pitchFamily="34" charset="-122"/>
                <a:cs typeface="Inter" pitchFamily="34" charset="-120"/>
              </a:rPr>
              <a:t> Which attributes most strongly influence student persistence outcomes?</a:t>
            </a:r>
            <a:endParaRPr lang="en-US" sz="1750" dirty="0"/>
          </a:p>
        </p:txBody>
      </p:sp>
      <p:sp>
        <p:nvSpPr>
          <p:cNvPr id="6" name="Text 4"/>
          <p:cNvSpPr/>
          <p:nvPr/>
        </p:nvSpPr>
        <p:spPr>
          <a:xfrm>
            <a:off x="793790" y="5226129"/>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Model Evaluation:</a:t>
            </a:r>
            <a:r>
              <a:rPr lang="en-US" sz="1750" dirty="0">
                <a:solidFill>
                  <a:srgbClr val="161613"/>
                </a:solidFill>
                <a:latin typeface="Inter" pitchFamily="34" charset="0"/>
                <a:ea typeface="Inter" pitchFamily="34" charset="-122"/>
                <a:cs typeface="Inter" pitchFamily="34" charset="-120"/>
              </a:rPr>
              <a:t> Which machine learning approaches yield highest predictive accuracy?</a:t>
            </a:r>
            <a:endParaRPr lang="en-US" sz="1750" dirty="0"/>
          </a:p>
        </p:txBody>
      </p:sp>
      <p:sp>
        <p:nvSpPr>
          <p:cNvPr id="7" name="Text 5"/>
          <p:cNvSpPr/>
          <p:nvPr/>
        </p:nvSpPr>
        <p:spPr>
          <a:xfrm>
            <a:off x="793790" y="5668327"/>
            <a:ext cx="13042821" cy="362903"/>
          </a:xfrm>
          <a:prstGeom prst="rect">
            <a:avLst/>
          </a:prstGeom>
          <a:noFill/>
          <a:ln/>
        </p:spPr>
        <p:txBody>
          <a:bodyPr wrap="non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Enhancement Strategy:</a:t>
            </a:r>
            <a:r>
              <a:rPr lang="en-US" sz="1750" dirty="0">
                <a:solidFill>
                  <a:srgbClr val="161613"/>
                </a:solidFill>
                <a:latin typeface="Inter" pitchFamily="34" charset="0"/>
                <a:ea typeface="Inter" pitchFamily="34" charset="-122"/>
                <a:cs typeface="Inter" pitchFamily="34" charset="-120"/>
              </a:rPr>
              <a:t> Do hyperparameter tuning and ensemble stacking improve prediction performance?</a:t>
            </a:r>
            <a:endParaRPr lang="en-US" sz="1750" dirty="0"/>
          </a:p>
        </p:txBody>
      </p:sp>
      <p:sp>
        <p:nvSpPr>
          <p:cNvPr id="8" name="Rectangle 7">
            <a:extLst>
              <a:ext uri="{FF2B5EF4-FFF2-40B4-BE49-F238E27FC236}">
                <a16:creationId xmlns:a16="http://schemas.microsoft.com/office/drawing/2014/main" id="{8F07ABF8-83A3-3F15-5DE3-90C91AFCA4DF}"/>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18661" y="565071"/>
            <a:ext cx="7181374" cy="641747"/>
          </a:xfrm>
          <a:prstGeom prst="rect">
            <a:avLst/>
          </a:prstGeom>
          <a:noFill/>
          <a:ln/>
        </p:spPr>
        <p:txBody>
          <a:bodyPr wrap="none" lIns="0" tIns="0" rIns="0" bIns="0" rtlCol="0" anchor="t"/>
          <a:lstStyle/>
          <a:p>
            <a:pPr marL="0" indent="0" algn="l">
              <a:lnSpc>
                <a:spcPts val="5050"/>
              </a:lnSpc>
              <a:buNone/>
            </a:pPr>
            <a:r>
              <a:rPr lang="en-US" sz="4000" dirty="0">
                <a:solidFill>
                  <a:srgbClr val="161613"/>
                </a:solidFill>
                <a:latin typeface="DM Sans Medium" pitchFamily="34" charset="0"/>
                <a:ea typeface="DM Sans Medium" pitchFamily="34" charset="-122"/>
                <a:cs typeface="DM Sans Medium" pitchFamily="34" charset="-120"/>
              </a:rPr>
              <a:t>Methodology- Preprocessing </a:t>
            </a:r>
            <a:endParaRPr lang="en-US" sz="4000" dirty="0"/>
          </a:p>
        </p:txBody>
      </p:sp>
      <p:pic>
        <p:nvPicPr>
          <p:cNvPr id="3" name="Image 0" descr="preencoded.png"/>
          <p:cNvPicPr>
            <a:picLocks noChangeAspect="1"/>
          </p:cNvPicPr>
          <p:nvPr/>
        </p:nvPicPr>
        <p:blipFill>
          <a:blip r:embed="rId3"/>
          <a:stretch>
            <a:fillRect/>
          </a:stretch>
        </p:blipFill>
        <p:spPr>
          <a:xfrm>
            <a:off x="718661" y="1617464"/>
            <a:ext cx="1026676" cy="1511737"/>
          </a:xfrm>
          <a:prstGeom prst="rect">
            <a:avLst/>
          </a:prstGeom>
        </p:spPr>
      </p:pic>
      <p:sp>
        <p:nvSpPr>
          <p:cNvPr id="4" name="Text 1"/>
          <p:cNvSpPr/>
          <p:nvPr/>
        </p:nvSpPr>
        <p:spPr>
          <a:xfrm>
            <a:off x="2053233" y="1822728"/>
            <a:ext cx="2566749" cy="320873"/>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Data Selection</a:t>
            </a:r>
            <a:endParaRPr lang="en-US" sz="2000" dirty="0"/>
          </a:p>
        </p:txBody>
      </p:sp>
      <p:sp>
        <p:nvSpPr>
          <p:cNvPr id="5" name="Text 2"/>
          <p:cNvSpPr/>
          <p:nvPr/>
        </p:nvSpPr>
        <p:spPr>
          <a:xfrm>
            <a:off x="2053233" y="2266712"/>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161613"/>
                </a:solidFill>
                <a:latin typeface="Inter" pitchFamily="34" charset="0"/>
                <a:ea typeface="Inter" pitchFamily="34" charset="-122"/>
                <a:cs typeface="Inter" pitchFamily="34" charset="-120"/>
              </a:rPr>
              <a:t>Dataset from UCI Repository with 4,424 records across 37 attributes, reduced to 3,630 observations after removing "Enrolled" students</a:t>
            </a:r>
            <a:endParaRPr lang="en-US" sz="1600" dirty="0"/>
          </a:p>
        </p:txBody>
      </p:sp>
      <p:pic>
        <p:nvPicPr>
          <p:cNvPr id="6" name="Image 1" descr="preencoded.png"/>
          <p:cNvPicPr>
            <a:picLocks noChangeAspect="1"/>
          </p:cNvPicPr>
          <p:nvPr/>
        </p:nvPicPr>
        <p:blipFill>
          <a:blip r:embed="rId4"/>
          <a:stretch>
            <a:fillRect/>
          </a:stretch>
        </p:blipFill>
        <p:spPr>
          <a:xfrm>
            <a:off x="718661" y="3129201"/>
            <a:ext cx="1026676" cy="1511737"/>
          </a:xfrm>
          <a:prstGeom prst="rect">
            <a:avLst/>
          </a:prstGeom>
        </p:spPr>
      </p:pic>
      <p:sp>
        <p:nvSpPr>
          <p:cNvPr id="7" name="Text 3"/>
          <p:cNvSpPr/>
          <p:nvPr/>
        </p:nvSpPr>
        <p:spPr>
          <a:xfrm>
            <a:off x="2053233" y="3334464"/>
            <a:ext cx="2566749" cy="320873"/>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Data Cleaning</a:t>
            </a:r>
            <a:endParaRPr lang="en-US" sz="2000" dirty="0"/>
          </a:p>
        </p:txBody>
      </p:sp>
      <p:sp>
        <p:nvSpPr>
          <p:cNvPr id="8" name="Text 4"/>
          <p:cNvSpPr/>
          <p:nvPr/>
        </p:nvSpPr>
        <p:spPr>
          <a:xfrm>
            <a:off x="2053233" y="3778448"/>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161613"/>
                </a:solidFill>
                <a:latin typeface="Inter" pitchFamily="34" charset="0"/>
                <a:ea typeface="Inter" pitchFamily="34" charset="-122"/>
                <a:cs typeface="Inter" pitchFamily="34" charset="-120"/>
              </a:rPr>
              <a:t>No missing values detected, categorical variables encoded using label encoding, target variable mapped "Dropout" to 0 and "Graduate" to 1</a:t>
            </a:r>
            <a:endParaRPr lang="en-US" sz="1600" dirty="0"/>
          </a:p>
        </p:txBody>
      </p:sp>
      <p:pic>
        <p:nvPicPr>
          <p:cNvPr id="9" name="Image 2" descr="preencoded.png"/>
          <p:cNvPicPr>
            <a:picLocks noChangeAspect="1"/>
          </p:cNvPicPr>
          <p:nvPr/>
        </p:nvPicPr>
        <p:blipFill>
          <a:blip r:embed="rId5"/>
          <a:stretch>
            <a:fillRect/>
          </a:stretch>
        </p:blipFill>
        <p:spPr>
          <a:xfrm>
            <a:off x="718661" y="4640937"/>
            <a:ext cx="1026676" cy="1511737"/>
          </a:xfrm>
          <a:prstGeom prst="rect">
            <a:avLst/>
          </a:prstGeom>
        </p:spPr>
      </p:pic>
      <p:sp>
        <p:nvSpPr>
          <p:cNvPr id="10" name="Text 5"/>
          <p:cNvSpPr/>
          <p:nvPr/>
        </p:nvSpPr>
        <p:spPr>
          <a:xfrm>
            <a:off x="2053233" y="4846201"/>
            <a:ext cx="2566749" cy="320873"/>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Exploratory Analysis</a:t>
            </a:r>
            <a:endParaRPr lang="en-US" sz="2000" dirty="0"/>
          </a:p>
        </p:txBody>
      </p:sp>
      <p:sp>
        <p:nvSpPr>
          <p:cNvPr id="11" name="Text 6"/>
          <p:cNvSpPr/>
          <p:nvPr/>
        </p:nvSpPr>
        <p:spPr>
          <a:xfrm>
            <a:off x="2053233" y="5290185"/>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161613"/>
                </a:solidFill>
                <a:latin typeface="Inter" pitchFamily="34" charset="0"/>
                <a:ea typeface="Inter" pitchFamily="34" charset="-122"/>
                <a:cs typeface="Inter" pitchFamily="34" charset="-120"/>
              </a:rPr>
              <a:t>Count plots for categorical attributes, distribution plots for continuous features, correlation heatmap for numerical variables</a:t>
            </a:r>
            <a:endParaRPr lang="en-US" sz="1600" dirty="0"/>
          </a:p>
        </p:txBody>
      </p:sp>
      <p:pic>
        <p:nvPicPr>
          <p:cNvPr id="12" name="Image 3" descr="preencoded.png"/>
          <p:cNvPicPr>
            <a:picLocks noChangeAspect="1"/>
          </p:cNvPicPr>
          <p:nvPr/>
        </p:nvPicPr>
        <p:blipFill>
          <a:blip r:embed="rId6"/>
          <a:stretch>
            <a:fillRect/>
          </a:stretch>
        </p:blipFill>
        <p:spPr>
          <a:xfrm>
            <a:off x="718661" y="6152674"/>
            <a:ext cx="1026676" cy="1511737"/>
          </a:xfrm>
          <a:prstGeom prst="rect">
            <a:avLst/>
          </a:prstGeom>
        </p:spPr>
      </p:pic>
      <p:sp>
        <p:nvSpPr>
          <p:cNvPr id="13" name="Text 7"/>
          <p:cNvSpPr/>
          <p:nvPr/>
        </p:nvSpPr>
        <p:spPr>
          <a:xfrm>
            <a:off x="2053233" y="6357938"/>
            <a:ext cx="2566749" cy="320873"/>
          </a:xfrm>
          <a:prstGeom prst="rect">
            <a:avLst/>
          </a:prstGeom>
          <a:noFill/>
          <a:ln/>
        </p:spPr>
        <p:txBody>
          <a:bodyPr wrap="none" lIns="0" tIns="0" rIns="0" bIns="0" rtlCol="0" anchor="t"/>
          <a:lstStyle/>
          <a:p>
            <a:pPr marL="0" indent="0" algn="l">
              <a:lnSpc>
                <a:spcPts val="2500"/>
              </a:lnSpc>
              <a:buNone/>
            </a:pPr>
            <a:r>
              <a:rPr lang="en-US" sz="2000" dirty="0">
                <a:solidFill>
                  <a:srgbClr val="161613"/>
                </a:solidFill>
                <a:latin typeface="DM Sans Medium" pitchFamily="34" charset="0"/>
                <a:ea typeface="DM Sans Medium" pitchFamily="34" charset="-122"/>
                <a:cs typeface="DM Sans Medium" pitchFamily="34" charset="-120"/>
              </a:rPr>
              <a:t>Feature Selection</a:t>
            </a:r>
            <a:endParaRPr lang="en-US" sz="2000" dirty="0"/>
          </a:p>
        </p:txBody>
      </p:sp>
      <p:sp>
        <p:nvSpPr>
          <p:cNvPr id="14" name="Text 8"/>
          <p:cNvSpPr/>
          <p:nvPr/>
        </p:nvSpPr>
        <p:spPr>
          <a:xfrm>
            <a:off x="2053233" y="6801922"/>
            <a:ext cx="11858506" cy="657225"/>
          </a:xfrm>
          <a:prstGeom prst="rect">
            <a:avLst/>
          </a:prstGeom>
          <a:noFill/>
          <a:ln/>
        </p:spPr>
        <p:txBody>
          <a:bodyPr wrap="square" lIns="0" tIns="0" rIns="0" bIns="0" rtlCol="0" anchor="t"/>
          <a:lstStyle/>
          <a:p>
            <a:pPr marL="0" indent="0" algn="l">
              <a:lnSpc>
                <a:spcPts val="2550"/>
              </a:lnSpc>
              <a:buNone/>
            </a:pPr>
            <a:r>
              <a:rPr lang="en-US" sz="1600" dirty="0">
                <a:solidFill>
                  <a:srgbClr val="161613"/>
                </a:solidFill>
                <a:latin typeface="Inter" pitchFamily="34" charset="0"/>
                <a:ea typeface="Inter" pitchFamily="34" charset="-122"/>
                <a:cs typeface="Inter" pitchFamily="34" charset="-120"/>
              </a:rPr>
              <a:t>Guided by correlation analysis and Random Forest importance scores, emphasizing semester grades, tuition payment status, and demographic factors</a:t>
            </a:r>
            <a:endParaRPr lang="en-US" sz="1600" dirty="0"/>
          </a:p>
        </p:txBody>
      </p:sp>
      <p:sp>
        <p:nvSpPr>
          <p:cNvPr id="15" name="Rectangle 14">
            <a:extLst>
              <a:ext uri="{FF2B5EF4-FFF2-40B4-BE49-F238E27FC236}">
                <a16:creationId xmlns:a16="http://schemas.microsoft.com/office/drawing/2014/main" id="{A0EC0300-659F-BE62-02F6-CA998B03FCB3}"/>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834628"/>
            <a:ext cx="6563916"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Methodology- Modeling </a:t>
            </a:r>
            <a:endParaRPr lang="en-US" sz="4450" dirty="0"/>
          </a:p>
        </p:txBody>
      </p:sp>
      <p:pic>
        <p:nvPicPr>
          <p:cNvPr id="3" name="Image 0" descr="preencoded.png"/>
          <p:cNvPicPr>
            <a:picLocks noChangeAspect="1"/>
          </p:cNvPicPr>
          <p:nvPr/>
        </p:nvPicPr>
        <p:blipFill>
          <a:blip r:embed="rId3"/>
          <a:stretch>
            <a:fillRect/>
          </a:stretch>
        </p:blipFill>
        <p:spPr>
          <a:xfrm>
            <a:off x="3247430" y="1997035"/>
            <a:ext cx="1614011" cy="1306949"/>
          </a:xfrm>
          <a:prstGeom prst="rect">
            <a:avLst/>
          </a:prstGeom>
        </p:spPr>
      </p:pic>
      <p:pic>
        <p:nvPicPr>
          <p:cNvPr id="4" name="Image 1" descr="preencoded.png"/>
          <p:cNvPicPr>
            <a:picLocks noChangeAspect="1"/>
          </p:cNvPicPr>
          <p:nvPr/>
        </p:nvPicPr>
        <p:blipFill>
          <a:blip r:embed="rId4"/>
          <a:stretch>
            <a:fillRect/>
          </a:stretch>
        </p:blipFill>
        <p:spPr>
          <a:xfrm>
            <a:off x="3894892" y="2613065"/>
            <a:ext cx="318968" cy="398621"/>
          </a:xfrm>
          <a:prstGeom prst="rect">
            <a:avLst/>
          </a:prstGeom>
        </p:spPr>
      </p:pic>
      <p:sp>
        <p:nvSpPr>
          <p:cNvPr id="5" name="Text 1"/>
          <p:cNvSpPr/>
          <p:nvPr/>
        </p:nvSpPr>
        <p:spPr>
          <a:xfrm>
            <a:off x="5088255" y="222384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Stacking Classifier</a:t>
            </a:r>
            <a:endParaRPr lang="en-US" sz="2200" dirty="0"/>
          </a:p>
        </p:txBody>
      </p:sp>
      <p:sp>
        <p:nvSpPr>
          <p:cNvPr id="6" name="Text 2"/>
          <p:cNvSpPr/>
          <p:nvPr/>
        </p:nvSpPr>
        <p:spPr>
          <a:xfrm>
            <a:off x="5088255" y="2714268"/>
            <a:ext cx="6802398"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Combining tuned models with Logistic Regression meta-learner</a:t>
            </a:r>
            <a:endParaRPr lang="en-US" sz="1750" dirty="0"/>
          </a:p>
        </p:txBody>
      </p:sp>
      <p:sp>
        <p:nvSpPr>
          <p:cNvPr id="7" name="Shape 3"/>
          <p:cNvSpPr/>
          <p:nvPr/>
        </p:nvSpPr>
        <p:spPr>
          <a:xfrm>
            <a:off x="4918115" y="3317081"/>
            <a:ext cx="8861822" cy="15240"/>
          </a:xfrm>
          <a:prstGeom prst="roundRect">
            <a:avLst>
              <a:gd name="adj" fmla="val 223256"/>
            </a:avLst>
          </a:prstGeom>
          <a:solidFill>
            <a:srgbClr val="D3D1C9"/>
          </a:solidFill>
          <a:ln/>
        </p:spPr>
      </p:sp>
      <p:pic>
        <p:nvPicPr>
          <p:cNvPr id="8" name="Image 2" descr="preencoded.png"/>
          <p:cNvPicPr>
            <a:picLocks noChangeAspect="1"/>
          </p:cNvPicPr>
          <p:nvPr/>
        </p:nvPicPr>
        <p:blipFill>
          <a:blip r:embed="rId5"/>
          <a:stretch>
            <a:fillRect/>
          </a:stretch>
        </p:blipFill>
        <p:spPr>
          <a:xfrm>
            <a:off x="2440424" y="3360658"/>
            <a:ext cx="3228022" cy="1306949"/>
          </a:xfrm>
          <a:prstGeom prst="rect">
            <a:avLst/>
          </a:prstGeom>
        </p:spPr>
      </p:pic>
      <p:pic>
        <p:nvPicPr>
          <p:cNvPr id="9" name="Image 3" descr="preencoded.png"/>
          <p:cNvPicPr>
            <a:picLocks noChangeAspect="1"/>
          </p:cNvPicPr>
          <p:nvPr/>
        </p:nvPicPr>
        <p:blipFill>
          <a:blip r:embed="rId6"/>
          <a:stretch>
            <a:fillRect/>
          </a:stretch>
        </p:blipFill>
        <p:spPr>
          <a:xfrm>
            <a:off x="3894892" y="3814762"/>
            <a:ext cx="318968" cy="398621"/>
          </a:xfrm>
          <a:prstGeom prst="rect">
            <a:avLst/>
          </a:prstGeom>
        </p:spPr>
      </p:pic>
      <p:sp>
        <p:nvSpPr>
          <p:cNvPr id="10" name="Text 4"/>
          <p:cNvSpPr/>
          <p:nvPr/>
        </p:nvSpPr>
        <p:spPr>
          <a:xfrm>
            <a:off x="5895261" y="3587472"/>
            <a:ext cx="3165872"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Hyperparameter Tuning</a:t>
            </a:r>
            <a:endParaRPr lang="en-US" sz="2200" dirty="0"/>
          </a:p>
        </p:txBody>
      </p:sp>
      <p:sp>
        <p:nvSpPr>
          <p:cNvPr id="11" name="Text 5"/>
          <p:cNvSpPr/>
          <p:nvPr/>
        </p:nvSpPr>
        <p:spPr>
          <a:xfrm>
            <a:off x="5895261" y="4077891"/>
            <a:ext cx="3558897"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GridSearchCV for top performers</a:t>
            </a:r>
            <a:endParaRPr lang="en-US" sz="1750" dirty="0"/>
          </a:p>
        </p:txBody>
      </p:sp>
      <p:sp>
        <p:nvSpPr>
          <p:cNvPr id="12" name="Shape 6"/>
          <p:cNvSpPr/>
          <p:nvPr/>
        </p:nvSpPr>
        <p:spPr>
          <a:xfrm>
            <a:off x="5725120" y="4680704"/>
            <a:ext cx="8054816" cy="15240"/>
          </a:xfrm>
          <a:prstGeom prst="roundRect">
            <a:avLst>
              <a:gd name="adj" fmla="val 223256"/>
            </a:avLst>
          </a:prstGeom>
          <a:solidFill>
            <a:srgbClr val="D3D1C9"/>
          </a:solidFill>
          <a:ln/>
        </p:spPr>
      </p:sp>
      <p:pic>
        <p:nvPicPr>
          <p:cNvPr id="13" name="Image 4" descr="preencoded.png"/>
          <p:cNvPicPr>
            <a:picLocks noChangeAspect="1"/>
          </p:cNvPicPr>
          <p:nvPr/>
        </p:nvPicPr>
        <p:blipFill>
          <a:blip r:embed="rId7"/>
          <a:stretch>
            <a:fillRect/>
          </a:stretch>
        </p:blipFill>
        <p:spPr>
          <a:xfrm>
            <a:off x="1633418" y="4724281"/>
            <a:ext cx="4842034" cy="1306949"/>
          </a:xfrm>
          <a:prstGeom prst="rect">
            <a:avLst/>
          </a:prstGeom>
        </p:spPr>
      </p:pic>
      <p:pic>
        <p:nvPicPr>
          <p:cNvPr id="14" name="Image 5" descr="preencoded.png"/>
          <p:cNvPicPr>
            <a:picLocks noChangeAspect="1"/>
          </p:cNvPicPr>
          <p:nvPr/>
        </p:nvPicPr>
        <p:blipFill>
          <a:blip r:embed="rId8"/>
          <a:stretch>
            <a:fillRect/>
          </a:stretch>
        </p:blipFill>
        <p:spPr>
          <a:xfrm>
            <a:off x="3894892" y="5178385"/>
            <a:ext cx="318968" cy="398621"/>
          </a:xfrm>
          <a:prstGeom prst="rect">
            <a:avLst/>
          </a:prstGeom>
        </p:spPr>
      </p:pic>
      <p:sp>
        <p:nvSpPr>
          <p:cNvPr id="15" name="Text 7"/>
          <p:cNvSpPr/>
          <p:nvPr/>
        </p:nvSpPr>
        <p:spPr>
          <a:xfrm>
            <a:off x="6702266" y="495109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Ensemble Models</a:t>
            </a:r>
            <a:endParaRPr lang="en-US" sz="2200" dirty="0"/>
          </a:p>
        </p:txBody>
      </p:sp>
      <p:sp>
        <p:nvSpPr>
          <p:cNvPr id="16" name="Text 8"/>
          <p:cNvSpPr/>
          <p:nvPr/>
        </p:nvSpPr>
        <p:spPr>
          <a:xfrm>
            <a:off x="6702266" y="5441513"/>
            <a:ext cx="5902643"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Random Forest, Gradient Boosting, XGBoost, LightGBM</a:t>
            </a:r>
            <a:endParaRPr lang="en-US" sz="1750" dirty="0"/>
          </a:p>
        </p:txBody>
      </p:sp>
      <p:sp>
        <p:nvSpPr>
          <p:cNvPr id="17" name="Shape 9"/>
          <p:cNvSpPr/>
          <p:nvPr/>
        </p:nvSpPr>
        <p:spPr>
          <a:xfrm>
            <a:off x="6532126" y="6044327"/>
            <a:ext cx="7247811" cy="15240"/>
          </a:xfrm>
          <a:prstGeom prst="roundRect">
            <a:avLst>
              <a:gd name="adj" fmla="val 223256"/>
            </a:avLst>
          </a:prstGeom>
          <a:solidFill>
            <a:srgbClr val="D3D1C9"/>
          </a:solidFill>
          <a:ln/>
        </p:spPr>
      </p:sp>
      <p:pic>
        <p:nvPicPr>
          <p:cNvPr id="18" name="Image 6" descr="preencoded.png"/>
          <p:cNvPicPr>
            <a:picLocks noChangeAspect="1"/>
          </p:cNvPicPr>
          <p:nvPr/>
        </p:nvPicPr>
        <p:blipFill>
          <a:blip r:embed="rId9"/>
          <a:stretch>
            <a:fillRect/>
          </a:stretch>
        </p:blipFill>
        <p:spPr>
          <a:xfrm>
            <a:off x="826294" y="6087904"/>
            <a:ext cx="6456164" cy="1306949"/>
          </a:xfrm>
          <a:prstGeom prst="rect">
            <a:avLst/>
          </a:prstGeom>
        </p:spPr>
      </p:pic>
      <p:pic>
        <p:nvPicPr>
          <p:cNvPr id="19" name="Image 7" descr="preencoded.png"/>
          <p:cNvPicPr>
            <a:picLocks noChangeAspect="1"/>
          </p:cNvPicPr>
          <p:nvPr/>
        </p:nvPicPr>
        <p:blipFill>
          <a:blip r:embed="rId10"/>
          <a:stretch>
            <a:fillRect/>
          </a:stretch>
        </p:blipFill>
        <p:spPr>
          <a:xfrm>
            <a:off x="3894773" y="6542008"/>
            <a:ext cx="318968" cy="398621"/>
          </a:xfrm>
          <a:prstGeom prst="rect">
            <a:avLst/>
          </a:prstGeom>
        </p:spPr>
      </p:pic>
      <p:sp>
        <p:nvSpPr>
          <p:cNvPr id="20" name="Text 10"/>
          <p:cNvSpPr/>
          <p:nvPr/>
        </p:nvSpPr>
        <p:spPr>
          <a:xfrm>
            <a:off x="7509272" y="631471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Baseline Models</a:t>
            </a:r>
            <a:endParaRPr lang="en-US" sz="2200" dirty="0"/>
          </a:p>
        </p:txBody>
      </p:sp>
      <p:sp>
        <p:nvSpPr>
          <p:cNvPr id="21" name="Text 11"/>
          <p:cNvSpPr/>
          <p:nvPr/>
        </p:nvSpPr>
        <p:spPr>
          <a:xfrm>
            <a:off x="7509272" y="6805136"/>
            <a:ext cx="3688437"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Logistic Regression, Decision Tree</a:t>
            </a:r>
            <a:endParaRPr lang="en-US" sz="1750" dirty="0"/>
          </a:p>
        </p:txBody>
      </p:sp>
      <p:sp>
        <p:nvSpPr>
          <p:cNvPr id="22" name="Rectangle 21">
            <a:extLst>
              <a:ext uri="{FF2B5EF4-FFF2-40B4-BE49-F238E27FC236}">
                <a16:creationId xmlns:a16="http://schemas.microsoft.com/office/drawing/2014/main" id="{F93A7D55-1FB3-1DB8-3ACC-571C9C90F590}"/>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649730"/>
            <a:ext cx="6868954"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Methodology- Evaluation </a:t>
            </a:r>
            <a:endParaRPr lang="en-US" sz="4450" dirty="0"/>
          </a:p>
        </p:txBody>
      </p:sp>
      <p:sp>
        <p:nvSpPr>
          <p:cNvPr id="3" name="Shape 1"/>
          <p:cNvSpPr/>
          <p:nvPr/>
        </p:nvSpPr>
        <p:spPr>
          <a:xfrm>
            <a:off x="793790" y="2812137"/>
            <a:ext cx="510302" cy="510302"/>
          </a:xfrm>
          <a:prstGeom prst="roundRect">
            <a:avLst>
              <a:gd name="adj" fmla="val 6667"/>
            </a:avLst>
          </a:prstGeom>
          <a:solidFill>
            <a:srgbClr val="EDEBE3"/>
          </a:solidFill>
          <a:ln/>
        </p:spPr>
      </p:sp>
      <p:sp>
        <p:nvSpPr>
          <p:cNvPr id="4" name="Text 2"/>
          <p:cNvSpPr/>
          <p:nvPr/>
        </p:nvSpPr>
        <p:spPr>
          <a:xfrm>
            <a:off x="878860" y="285464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1</a:t>
            </a:r>
            <a:endParaRPr lang="en-US" sz="2650" dirty="0"/>
          </a:p>
        </p:txBody>
      </p:sp>
      <p:sp>
        <p:nvSpPr>
          <p:cNvPr id="5" name="Text 3"/>
          <p:cNvSpPr/>
          <p:nvPr/>
        </p:nvSpPr>
        <p:spPr>
          <a:xfrm>
            <a:off x="1530906" y="289000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Cross-Validation</a:t>
            </a:r>
            <a:endParaRPr lang="en-US" sz="2200" dirty="0"/>
          </a:p>
        </p:txBody>
      </p:sp>
      <p:sp>
        <p:nvSpPr>
          <p:cNvPr id="6" name="Text 4"/>
          <p:cNvSpPr/>
          <p:nvPr/>
        </p:nvSpPr>
        <p:spPr>
          <a:xfrm>
            <a:off x="1530906" y="338042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Implemented stratified 5-fold cross-validation to ensure reliable model assessment across different data subsets</a:t>
            </a:r>
            <a:endParaRPr lang="en-US" sz="1750" dirty="0"/>
          </a:p>
        </p:txBody>
      </p:sp>
      <p:sp>
        <p:nvSpPr>
          <p:cNvPr id="7" name="Shape 5"/>
          <p:cNvSpPr/>
          <p:nvPr/>
        </p:nvSpPr>
        <p:spPr>
          <a:xfrm>
            <a:off x="7457003" y="2812137"/>
            <a:ext cx="510302" cy="510302"/>
          </a:xfrm>
          <a:prstGeom prst="roundRect">
            <a:avLst>
              <a:gd name="adj" fmla="val 6667"/>
            </a:avLst>
          </a:prstGeom>
          <a:solidFill>
            <a:srgbClr val="EDEBE3"/>
          </a:solidFill>
          <a:ln/>
        </p:spPr>
      </p:sp>
      <p:sp>
        <p:nvSpPr>
          <p:cNvPr id="8" name="Text 6"/>
          <p:cNvSpPr/>
          <p:nvPr/>
        </p:nvSpPr>
        <p:spPr>
          <a:xfrm>
            <a:off x="7542074" y="285464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2</a:t>
            </a:r>
            <a:endParaRPr lang="en-US" sz="2650" dirty="0"/>
          </a:p>
        </p:txBody>
      </p:sp>
      <p:sp>
        <p:nvSpPr>
          <p:cNvPr id="9" name="Text 7"/>
          <p:cNvSpPr/>
          <p:nvPr/>
        </p:nvSpPr>
        <p:spPr>
          <a:xfrm>
            <a:off x="8194119" y="2890004"/>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Performance Metrics</a:t>
            </a:r>
            <a:endParaRPr lang="en-US" sz="2200" dirty="0"/>
          </a:p>
        </p:txBody>
      </p:sp>
      <p:sp>
        <p:nvSpPr>
          <p:cNvPr id="10" name="Text 8"/>
          <p:cNvSpPr/>
          <p:nvPr/>
        </p:nvSpPr>
        <p:spPr>
          <a:xfrm>
            <a:off x="8194119" y="338042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Measured accuracy, precision, recall, F1-score, and ROC-AUC to comprehensively evaluate classification performance</a:t>
            </a:r>
            <a:endParaRPr lang="en-US" sz="1750" dirty="0"/>
          </a:p>
        </p:txBody>
      </p:sp>
      <p:sp>
        <p:nvSpPr>
          <p:cNvPr id="11" name="Shape 9"/>
          <p:cNvSpPr/>
          <p:nvPr/>
        </p:nvSpPr>
        <p:spPr>
          <a:xfrm>
            <a:off x="793790" y="4922758"/>
            <a:ext cx="510302" cy="510302"/>
          </a:xfrm>
          <a:prstGeom prst="roundRect">
            <a:avLst>
              <a:gd name="adj" fmla="val 6667"/>
            </a:avLst>
          </a:prstGeom>
          <a:solidFill>
            <a:srgbClr val="EDEBE3"/>
          </a:solidFill>
          <a:ln/>
        </p:spPr>
      </p:sp>
      <p:sp>
        <p:nvSpPr>
          <p:cNvPr id="12" name="Text 10"/>
          <p:cNvSpPr/>
          <p:nvPr/>
        </p:nvSpPr>
        <p:spPr>
          <a:xfrm>
            <a:off x="878860" y="496526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3</a:t>
            </a:r>
            <a:endParaRPr lang="en-US" sz="2650" dirty="0"/>
          </a:p>
        </p:txBody>
      </p:sp>
      <p:sp>
        <p:nvSpPr>
          <p:cNvPr id="13" name="Text 11"/>
          <p:cNvSpPr/>
          <p:nvPr/>
        </p:nvSpPr>
        <p:spPr>
          <a:xfrm>
            <a:off x="1530906" y="500062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Overfitting Detection</a:t>
            </a:r>
            <a:endParaRPr lang="en-US" sz="2200" dirty="0"/>
          </a:p>
        </p:txBody>
      </p:sp>
      <p:sp>
        <p:nvSpPr>
          <p:cNvPr id="14" name="Text 12"/>
          <p:cNvSpPr/>
          <p:nvPr/>
        </p:nvSpPr>
        <p:spPr>
          <a:xfrm>
            <a:off x="1530906" y="549104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Systematically compared training scores against cross-validation scores to identify and address potential overfitting</a:t>
            </a:r>
            <a:endParaRPr lang="en-US" sz="1750" dirty="0"/>
          </a:p>
        </p:txBody>
      </p:sp>
      <p:sp>
        <p:nvSpPr>
          <p:cNvPr id="15" name="Shape 13"/>
          <p:cNvSpPr/>
          <p:nvPr/>
        </p:nvSpPr>
        <p:spPr>
          <a:xfrm>
            <a:off x="7457003" y="4922758"/>
            <a:ext cx="510302" cy="510302"/>
          </a:xfrm>
          <a:prstGeom prst="roundRect">
            <a:avLst>
              <a:gd name="adj" fmla="val 6667"/>
            </a:avLst>
          </a:prstGeom>
          <a:solidFill>
            <a:srgbClr val="EDEBE3"/>
          </a:solidFill>
          <a:ln/>
        </p:spPr>
      </p:sp>
      <p:sp>
        <p:nvSpPr>
          <p:cNvPr id="16" name="Text 14"/>
          <p:cNvSpPr/>
          <p:nvPr/>
        </p:nvSpPr>
        <p:spPr>
          <a:xfrm>
            <a:off x="7542074" y="4965263"/>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4</a:t>
            </a:r>
            <a:endParaRPr lang="en-US" sz="2650" dirty="0"/>
          </a:p>
        </p:txBody>
      </p:sp>
      <p:sp>
        <p:nvSpPr>
          <p:cNvPr id="17" name="Text 15"/>
          <p:cNvSpPr/>
          <p:nvPr/>
        </p:nvSpPr>
        <p:spPr>
          <a:xfrm>
            <a:off x="8194119" y="5000625"/>
            <a:ext cx="3477339"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Standardized Comparison</a:t>
            </a:r>
            <a:endParaRPr lang="en-US" sz="2200" dirty="0"/>
          </a:p>
        </p:txBody>
      </p:sp>
      <p:sp>
        <p:nvSpPr>
          <p:cNvPr id="18" name="Text 16"/>
          <p:cNvSpPr/>
          <p:nvPr/>
        </p:nvSpPr>
        <p:spPr>
          <a:xfrm>
            <a:off x="8194119" y="5491043"/>
            <a:ext cx="5642610"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Applied consistent evaluation process across baseline models, tuned models, and the final stacking ensemble</a:t>
            </a:r>
            <a:endParaRPr lang="en-US" sz="1750" dirty="0"/>
          </a:p>
        </p:txBody>
      </p:sp>
      <p:sp>
        <p:nvSpPr>
          <p:cNvPr id="19" name="Rectangle 18">
            <a:extLst>
              <a:ext uri="{FF2B5EF4-FFF2-40B4-BE49-F238E27FC236}">
                <a16:creationId xmlns:a16="http://schemas.microsoft.com/office/drawing/2014/main" id="{3CA89144-27BF-C7B8-05B6-9548AC02839B}"/>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44604"/>
            <a:ext cx="6625114"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Result&amp; Discussion -EDA</a:t>
            </a:r>
            <a:endParaRPr lang="en-US" sz="4450" dirty="0"/>
          </a:p>
        </p:txBody>
      </p:sp>
      <p:sp>
        <p:nvSpPr>
          <p:cNvPr id="3" name="Shape 1"/>
          <p:cNvSpPr/>
          <p:nvPr/>
        </p:nvSpPr>
        <p:spPr>
          <a:xfrm>
            <a:off x="793790" y="1807012"/>
            <a:ext cx="510302" cy="510302"/>
          </a:xfrm>
          <a:prstGeom prst="roundRect">
            <a:avLst>
              <a:gd name="adj" fmla="val 6667"/>
            </a:avLst>
          </a:prstGeom>
          <a:solidFill>
            <a:srgbClr val="EDEBE3"/>
          </a:solidFill>
          <a:ln/>
        </p:spPr>
      </p:sp>
      <p:pic>
        <p:nvPicPr>
          <p:cNvPr id="4" name="Image 0" descr="preencoded.png"/>
          <p:cNvPicPr>
            <a:picLocks noChangeAspect="1"/>
          </p:cNvPicPr>
          <p:nvPr/>
        </p:nvPicPr>
        <p:blipFill>
          <a:blip r:embed="rId3"/>
          <a:stretch>
            <a:fillRect/>
          </a:stretch>
        </p:blipFill>
        <p:spPr>
          <a:xfrm>
            <a:off x="878860" y="1849517"/>
            <a:ext cx="340162" cy="425291"/>
          </a:xfrm>
          <a:prstGeom prst="rect">
            <a:avLst/>
          </a:prstGeom>
        </p:spPr>
      </p:pic>
      <p:sp>
        <p:nvSpPr>
          <p:cNvPr id="5" name="Text 2"/>
          <p:cNvSpPr/>
          <p:nvPr/>
        </p:nvSpPr>
        <p:spPr>
          <a:xfrm>
            <a:off x="1530906" y="1884878"/>
            <a:ext cx="3091101"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Tuition Payment Status</a:t>
            </a:r>
            <a:endParaRPr lang="en-US" sz="2200" dirty="0"/>
          </a:p>
        </p:txBody>
      </p:sp>
      <p:sp>
        <p:nvSpPr>
          <p:cNvPr id="6" name="Text 3"/>
          <p:cNvSpPr/>
          <p:nvPr/>
        </p:nvSpPr>
        <p:spPr>
          <a:xfrm>
            <a:off x="1530906" y="2375297"/>
            <a:ext cx="3421499" cy="1814513"/>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Students with on-time payments showed significantly lower dropout rates. Financial stability emerges as a critical persistence factor.</a:t>
            </a:r>
            <a:endParaRPr lang="en-US" sz="1750" dirty="0"/>
          </a:p>
        </p:txBody>
      </p:sp>
      <p:sp>
        <p:nvSpPr>
          <p:cNvPr id="7" name="Shape 4"/>
          <p:cNvSpPr/>
          <p:nvPr/>
        </p:nvSpPr>
        <p:spPr>
          <a:xfrm>
            <a:off x="5235893" y="1807012"/>
            <a:ext cx="510302" cy="510302"/>
          </a:xfrm>
          <a:prstGeom prst="roundRect">
            <a:avLst>
              <a:gd name="adj" fmla="val 6667"/>
            </a:avLst>
          </a:prstGeom>
          <a:solidFill>
            <a:srgbClr val="EDEBE3"/>
          </a:solidFill>
          <a:ln/>
        </p:spPr>
      </p:sp>
      <p:pic>
        <p:nvPicPr>
          <p:cNvPr id="8" name="Image 1" descr="preencoded.png"/>
          <p:cNvPicPr>
            <a:picLocks noChangeAspect="1"/>
          </p:cNvPicPr>
          <p:nvPr/>
        </p:nvPicPr>
        <p:blipFill>
          <a:blip r:embed="rId4"/>
          <a:stretch>
            <a:fillRect/>
          </a:stretch>
        </p:blipFill>
        <p:spPr>
          <a:xfrm>
            <a:off x="5320963" y="1849517"/>
            <a:ext cx="340162" cy="425291"/>
          </a:xfrm>
          <a:prstGeom prst="rect">
            <a:avLst/>
          </a:prstGeom>
        </p:spPr>
      </p:pic>
      <p:sp>
        <p:nvSpPr>
          <p:cNvPr id="9" name="Text 5"/>
          <p:cNvSpPr/>
          <p:nvPr/>
        </p:nvSpPr>
        <p:spPr>
          <a:xfrm>
            <a:off x="5973008" y="18848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Admission Grades</a:t>
            </a:r>
            <a:endParaRPr lang="en-US" sz="2200" dirty="0"/>
          </a:p>
        </p:txBody>
      </p:sp>
      <p:sp>
        <p:nvSpPr>
          <p:cNvPr id="10" name="Text 6"/>
          <p:cNvSpPr/>
          <p:nvPr/>
        </p:nvSpPr>
        <p:spPr>
          <a:xfrm>
            <a:off x="5973008" y="2375297"/>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Strong positive correlation between admission scores and graduation success. Academic readiness fundamentally influences completion likelihood.</a:t>
            </a:r>
            <a:endParaRPr lang="en-US" sz="1750" dirty="0"/>
          </a:p>
        </p:txBody>
      </p:sp>
      <p:sp>
        <p:nvSpPr>
          <p:cNvPr id="11" name="Shape 7"/>
          <p:cNvSpPr/>
          <p:nvPr/>
        </p:nvSpPr>
        <p:spPr>
          <a:xfrm>
            <a:off x="9677995" y="1807012"/>
            <a:ext cx="510302" cy="510302"/>
          </a:xfrm>
          <a:prstGeom prst="roundRect">
            <a:avLst>
              <a:gd name="adj" fmla="val 6667"/>
            </a:avLst>
          </a:prstGeom>
          <a:solidFill>
            <a:srgbClr val="EDEBE3"/>
          </a:solidFill>
          <a:ln/>
        </p:spPr>
      </p:sp>
      <p:pic>
        <p:nvPicPr>
          <p:cNvPr id="12" name="Image 2" descr="preencoded.png"/>
          <p:cNvPicPr>
            <a:picLocks noChangeAspect="1"/>
          </p:cNvPicPr>
          <p:nvPr/>
        </p:nvPicPr>
        <p:blipFill>
          <a:blip r:embed="rId5"/>
          <a:stretch>
            <a:fillRect/>
          </a:stretch>
        </p:blipFill>
        <p:spPr>
          <a:xfrm>
            <a:off x="9763065" y="1849517"/>
            <a:ext cx="340162" cy="425291"/>
          </a:xfrm>
          <a:prstGeom prst="rect">
            <a:avLst/>
          </a:prstGeom>
        </p:spPr>
      </p:pic>
      <p:sp>
        <p:nvSpPr>
          <p:cNvPr id="13" name="Text 8"/>
          <p:cNvSpPr/>
          <p:nvPr/>
        </p:nvSpPr>
        <p:spPr>
          <a:xfrm>
            <a:off x="10415111" y="188487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Age at Enrollment</a:t>
            </a:r>
            <a:endParaRPr lang="en-US" sz="2200" dirty="0"/>
          </a:p>
        </p:txBody>
      </p:sp>
      <p:sp>
        <p:nvSpPr>
          <p:cNvPr id="14" name="Text 9"/>
          <p:cNvSpPr/>
          <p:nvPr/>
        </p:nvSpPr>
        <p:spPr>
          <a:xfrm>
            <a:off x="10415111" y="2375297"/>
            <a:ext cx="3421499" cy="217741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Younger students graduated at higher rates than older counterparts. External responsibilities may create barriers for non-traditional students.</a:t>
            </a:r>
            <a:endParaRPr lang="en-US" sz="1750" dirty="0"/>
          </a:p>
        </p:txBody>
      </p:sp>
      <p:pic>
        <p:nvPicPr>
          <p:cNvPr id="15" name="Image 3" descr="preencoded.png"/>
          <p:cNvPicPr>
            <a:picLocks noChangeAspect="1"/>
          </p:cNvPicPr>
          <p:nvPr/>
        </p:nvPicPr>
        <p:blipFill>
          <a:blip r:embed="rId6"/>
          <a:stretch>
            <a:fillRect/>
          </a:stretch>
        </p:blipFill>
        <p:spPr>
          <a:xfrm>
            <a:off x="793790" y="5063014"/>
            <a:ext cx="3767852" cy="2266831"/>
          </a:xfrm>
          <a:prstGeom prst="rect">
            <a:avLst/>
          </a:prstGeom>
        </p:spPr>
      </p:pic>
      <p:pic>
        <p:nvPicPr>
          <p:cNvPr id="16" name="Image 4" descr="preencoded.png"/>
          <p:cNvPicPr>
            <a:picLocks noChangeAspect="1"/>
          </p:cNvPicPr>
          <p:nvPr/>
        </p:nvPicPr>
        <p:blipFill>
          <a:blip r:embed="rId7"/>
          <a:stretch>
            <a:fillRect/>
          </a:stretch>
        </p:blipFill>
        <p:spPr>
          <a:xfrm>
            <a:off x="5332928" y="5063014"/>
            <a:ext cx="3978116" cy="2254687"/>
          </a:xfrm>
          <a:prstGeom prst="rect">
            <a:avLst/>
          </a:prstGeom>
        </p:spPr>
      </p:pic>
      <p:pic>
        <p:nvPicPr>
          <p:cNvPr id="17" name="Image 5" descr="preencoded.png"/>
          <p:cNvPicPr>
            <a:picLocks noChangeAspect="1"/>
          </p:cNvPicPr>
          <p:nvPr/>
        </p:nvPicPr>
        <p:blipFill>
          <a:blip r:embed="rId8"/>
          <a:stretch>
            <a:fillRect/>
          </a:stretch>
        </p:blipFill>
        <p:spPr>
          <a:xfrm>
            <a:off x="10208419" y="5063014"/>
            <a:ext cx="3641765" cy="2085261"/>
          </a:xfrm>
          <a:prstGeom prst="rect">
            <a:avLst/>
          </a:prstGeom>
        </p:spPr>
      </p:pic>
      <p:sp>
        <p:nvSpPr>
          <p:cNvPr id="18" name="Rectangle 17">
            <a:extLst>
              <a:ext uri="{FF2B5EF4-FFF2-40B4-BE49-F238E27FC236}">
                <a16:creationId xmlns:a16="http://schemas.microsoft.com/office/drawing/2014/main" id="{A1B0FE38-59F8-ED28-74AD-600DFD179DAA}"/>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27829" y="1138595"/>
            <a:ext cx="6074212" cy="649843"/>
          </a:xfrm>
          <a:prstGeom prst="rect">
            <a:avLst/>
          </a:prstGeom>
          <a:noFill/>
          <a:ln/>
        </p:spPr>
        <p:txBody>
          <a:bodyPr wrap="none" lIns="0" tIns="0" rIns="0" bIns="0" rtlCol="0" anchor="t"/>
          <a:lstStyle/>
          <a:p>
            <a:pPr marL="0" indent="0" algn="l">
              <a:lnSpc>
                <a:spcPts val="5100"/>
              </a:lnSpc>
              <a:buNone/>
            </a:pPr>
            <a:r>
              <a:rPr lang="en-US" sz="4050" dirty="0">
                <a:solidFill>
                  <a:srgbClr val="161613"/>
                </a:solidFill>
                <a:latin typeface="DM Sans Medium" pitchFamily="34" charset="0"/>
                <a:ea typeface="DM Sans Medium" pitchFamily="34" charset="-122"/>
                <a:cs typeface="DM Sans Medium" pitchFamily="34" charset="-120"/>
              </a:rPr>
              <a:t>Result&amp; Discussion -EDA</a:t>
            </a:r>
            <a:endParaRPr lang="en-US" sz="4050" dirty="0"/>
          </a:p>
        </p:txBody>
      </p:sp>
      <p:pic>
        <p:nvPicPr>
          <p:cNvPr id="3" name="Image 0" descr="preencoded.png"/>
          <p:cNvPicPr>
            <a:picLocks noChangeAspect="1"/>
          </p:cNvPicPr>
          <p:nvPr/>
        </p:nvPicPr>
        <p:blipFill>
          <a:blip r:embed="rId3"/>
          <a:stretch>
            <a:fillRect/>
          </a:stretch>
        </p:blipFill>
        <p:spPr>
          <a:xfrm>
            <a:off x="727829" y="2100263"/>
            <a:ext cx="1039773" cy="1247656"/>
          </a:xfrm>
          <a:prstGeom prst="rect">
            <a:avLst/>
          </a:prstGeom>
        </p:spPr>
      </p:pic>
      <p:sp>
        <p:nvSpPr>
          <p:cNvPr id="4" name="Text 1"/>
          <p:cNvSpPr/>
          <p:nvPr/>
        </p:nvSpPr>
        <p:spPr>
          <a:xfrm>
            <a:off x="2079427" y="2308146"/>
            <a:ext cx="2599372" cy="324802"/>
          </a:xfrm>
          <a:prstGeom prst="rect">
            <a:avLst/>
          </a:prstGeom>
          <a:noFill/>
          <a:ln/>
        </p:spPr>
        <p:txBody>
          <a:bodyPr wrap="none" lIns="0" tIns="0" rIns="0" bIns="0" rtlCol="0" anchor="t"/>
          <a:lstStyle/>
          <a:p>
            <a:pPr marL="0" indent="0" algn="l">
              <a:lnSpc>
                <a:spcPts val="2550"/>
              </a:lnSpc>
              <a:buNone/>
            </a:pPr>
            <a:r>
              <a:rPr lang="en-US" sz="2000" b="1" dirty="0">
                <a:solidFill>
                  <a:srgbClr val="161613"/>
                </a:solidFill>
                <a:latin typeface="DM Sans Medium" pitchFamily="34" charset="0"/>
                <a:ea typeface="DM Sans Medium" pitchFamily="34" charset="-122"/>
                <a:cs typeface="DM Sans Medium" pitchFamily="34" charset="-120"/>
              </a:rPr>
              <a:t>Correlation Analysis</a:t>
            </a:r>
            <a:endParaRPr lang="en-US" sz="2000" b="1" dirty="0"/>
          </a:p>
        </p:txBody>
      </p:sp>
      <p:sp>
        <p:nvSpPr>
          <p:cNvPr id="5" name="Text 2"/>
          <p:cNvSpPr/>
          <p:nvPr/>
        </p:nvSpPr>
        <p:spPr>
          <a:xfrm>
            <a:off x="2079427" y="2757606"/>
            <a:ext cx="7476949" cy="798195"/>
          </a:xfrm>
          <a:prstGeom prst="rect">
            <a:avLst/>
          </a:prstGeom>
          <a:noFill/>
          <a:ln/>
        </p:spPr>
        <p:txBody>
          <a:bodyPr wrap="none" lIns="0" tIns="0" rIns="0" bIns="0" rtlCol="0" anchor="t"/>
          <a:lstStyle/>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Second semester grades (r=0.605) and first semester grades (r=0.519) </a:t>
            </a:r>
          </a:p>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emerged as strongest graduation predictors.</a:t>
            </a:r>
            <a:endParaRPr lang="en-US" sz="1600" dirty="0"/>
          </a:p>
        </p:txBody>
      </p:sp>
      <p:pic>
        <p:nvPicPr>
          <p:cNvPr id="6" name="Image 1" descr="preencoded.png"/>
          <p:cNvPicPr>
            <a:picLocks noChangeAspect="1"/>
          </p:cNvPicPr>
          <p:nvPr/>
        </p:nvPicPr>
        <p:blipFill>
          <a:blip r:embed="rId4"/>
          <a:stretch>
            <a:fillRect/>
          </a:stretch>
        </p:blipFill>
        <p:spPr>
          <a:xfrm>
            <a:off x="727829" y="3347918"/>
            <a:ext cx="1039773" cy="1247656"/>
          </a:xfrm>
          <a:prstGeom prst="rect">
            <a:avLst/>
          </a:prstGeom>
        </p:spPr>
      </p:pic>
      <p:sp>
        <p:nvSpPr>
          <p:cNvPr id="7" name="Text 3"/>
          <p:cNvSpPr/>
          <p:nvPr/>
        </p:nvSpPr>
        <p:spPr>
          <a:xfrm>
            <a:off x="2079427" y="3555802"/>
            <a:ext cx="2599372" cy="324802"/>
          </a:xfrm>
          <a:prstGeom prst="rect">
            <a:avLst/>
          </a:prstGeom>
          <a:noFill/>
          <a:ln/>
        </p:spPr>
        <p:txBody>
          <a:bodyPr wrap="none" lIns="0" tIns="0" rIns="0" bIns="0" rtlCol="0" anchor="t"/>
          <a:lstStyle/>
          <a:p>
            <a:pPr marL="0" indent="0" algn="l">
              <a:lnSpc>
                <a:spcPts val="2550"/>
              </a:lnSpc>
              <a:buNone/>
            </a:pPr>
            <a:r>
              <a:rPr lang="en-US" sz="2000" b="1" dirty="0">
                <a:solidFill>
                  <a:srgbClr val="161613"/>
                </a:solidFill>
                <a:latin typeface="DM Sans Medium" pitchFamily="34" charset="0"/>
                <a:ea typeface="DM Sans Medium" pitchFamily="34" charset="-122"/>
                <a:cs typeface="DM Sans Medium" pitchFamily="34" charset="-120"/>
              </a:rPr>
              <a:t>Feature Importance</a:t>
            </a:r>
            <a:endParaRPr lang="en-US" sz="2000" b="1" dirty="0"/>
          </a:p>
        </p:txBody>
      </p:sp>
      <p:sp>
        <p:nvSpPr>
          <p:cNvPr id="8" name="Text 4"/>
          <p:cNvSpPr/>
          <p:nvPr/>
        </p:nvSpPr>
        <p:spPr>
          <a:xfrm>
            <a:off x="2079427" y="4005262"/>
            <a:ext cx="7476949" cy="798195"/>
          </a:xfrm>
          <a:prstGeom prst="rect">
            <a:avLst/>
          </a:prstGeom>
          <a:noFill/>
          <a:ln/>
        </p:spPr>
        <p:txBody>
          <a:bodyPr wrap="none" lIns="0" tIns="0" rIns="0" bIns="0" rtlCol="0" anchor="t"/>
          <a:lstStyle/>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Random Forest identified semester grades, tuition payment status, </a:t>
            </a:r>
          </a:p>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and approved units as top predictive factors.</a:t>
            </a:r>
            <a:endParaRPr lang="en-US" sz="1600" dirty="0"/>
          </a:p>
        </p:txBody>
      </p:sp>
      <p:pic>
        <p:nvPicPr>
          <p:cNvPr id="9" name="Image 2" descr="preencoded.png"/>
          <p:cNvPicPr>
            <a:picLocks noChangeAspect="1"/>
          </p:cNvPicPr>
          <p:nvPr/>
        </p:nvPicPr>
        <p:blipFill>
          <a:blip r:embed="rId5"/>
          <a:stretch>
            <a:fillRect/>
          </a:stretch>
        </p:blipFill>
        <p:spPr>
          <a:xfrm>
            <a:off x="727829" y="4595574"/>
            <a:ext cx="1039773" cy="1247656"/>
          </a:xfrm>
          <a:prstGeom prst="rect">
            <a:avLst/>
          </a:prstGeom>
        </p:spPr>
      </p:pic>
      <p:sp>
        <p:nvSpPr>
          <p:cNvPr id="10" name="Text 5"/>
          <p:cNvSpPr/>
          <p:nvPr/>
        </p:nvSpPr>
        <p:spPr>
          <a:xfrm>
            <a:off x="2079427" y="4803458"/>
            <a:ext cx="2599372" cy="324802"/>
          </a:xfrm>
          <a:prstGeom prst="rect">
            <a:avLst/>
          </a:prstGeom>
          <a:noFill/>
          <a:ln/>
        </p:spPr>
        <p:txBody>
          <a:bodyPr wrap="none" lIns="0" tIns="0" rIns="0" bIns="0" rtlCol="0" anchor="t"/>
          <a:lstStyle/>
          <a:p>
            <a:pPr marL="0" indent="0" algn="l">
              <a:lnSpc>
                <a:spcPts val="2550"/>
              </a:lnSpc>
              <a:buNone/>
            </a:pPr>
            <a:r>
              <a:rPr lang="en-US" sz="2000" b="1" dirty="0">
                <a:solidFill>
                  <a:srgbClr val="161613"/>
                </a:solidFill>
                <a:latin typeface="DM Sans Medium" pitchFamily="34" charset="0"/>
                <a:ea typeface="DM Sans Medium" pitchFamily="34" charset="-122"/>
                <a:cs typeface="DM Sans Medium" pitchFamily="34" charset="-120"/>
              </a:rPr>
              <a:t>Modeling Foundation</a:t>
            </a:r>
            <a:endParaRPr lang="en-US" sz="2000" b="1" dirty="0"/>
          </a:p>
        </p:txBody>
      </p:sp>
      <p:sp>
        <p:nvSpPr>
          <p:cNvPr id="11" name="Text 6"/>
          <p:cNvSpPr/>
          <p:nvPr/>
        </p:nvSpPr>
        <p:spPr>
          <a:xfrm>
            <a:off x="2079427" y="5252917"/>
            <a:ext cx="7476949" cy="798195"/>
          </a:xfrm>
          <a:prstGeom prst="rect">
            <a:avLst/>
          </a:prstGeom>
          <a:noFill/>
          <a:ln/>
        </p:spPr>
        <p:txBody>
          <a:bodyPr wrap="none" lIns="0" tIns="0" rIns="0" bIns="0" rtlCol="0" anchor="t"/>
          <a:lstStyle/>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EDA findings aligned with prior research, confirming both academic</a:t>
            </a:r>
          </a:p>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 and non-academic factors influence dropout risk</a:t>
            </a:r>
            <a:endParaRPr lang="en-US" sz="1600" dirty="0"/>
          </a:p>
        </p:txBody>
      </p:sp>
      <p:pic>
        <p:nvPicPr>
          <p:cNvPr id="12" name="Image 3" descr="preencoded.png"/>
          <p:cNvPicPr>
            <a:picLocks noChangeAspect="1"/>
          </p:cNvPicPr>
          <p:nvPr/>
        </p:nvPicPr>
        <p:blipFill>
          <a:blip r:embed="rId6"/>
          <a:stretch>
            <a:fillRect/>
          </a:stretch>
        </p:blipFill>
        <p:spPr>
          <a:xfrm>
            <a:off x="727829" y="5843230"/>
            <a:ext cx="1039773" cy="1247656"/>
          </a:xfrm>
          <a:prstGeom prst="rect">
            <a:avLst/>
          </a:prstGeom>
        </p:spPr>
      </p:pic>
      <p:sp>
        <p:nvSpPr>
          <p:cNvPr id="13" name="Text 7"/>
          <p:cNvSpPr/>
          <p:nvPr/>
        </p:nvSpPr>
        <p:spPr>
          <a:xfrm>
            <a:off x="2079427" y="6051113"/>
            <a:ext cx="2599372" cy="324802"/>
          </a:xfrm>
          <a:prstGeom prst="rect">
            <a:avLst/>
          </a:prstGeom>
          <a:noFill/>
          <a:ln/>
        </p:spPr>
        <p:txBody>
          <a:bodyPr wrap="none" lIns="0" tIns="0" rIns="0" bIns="0" rtlCol="0" anchor="t"/>
          <a:lstStyle/>
          <a:p>
            <a:pPr marL="0" indent="0" algn="l">
              <a:lnSpc>
                <a:spcPts val="2550"/>
              </a:lnSpc>
              <a:buNone/>
            </a:pPr>
            <a:r>
              <a:rPr lang="en-US" sz="2000" b="1" dirty="0">
                <a:solidFill>
                  <a:srgbClr val="161613"/>
                </a:solidFill>
                <a:latin typeface="DM Sans Medium" pitchFamily="34" charset="0"/>
                <a:ea typeface="DM Sans Medium" pitchFamily="34" charset="-122"/>
                <a:cs typeface="DM Sans Medium" pitchFamily="34" charset="-120"/>
              </a:rPr>
              <a:t>Selected Features</a:t>
            </a:r>
            <a:endParaRPr lang="en-US" sz="2000" b="1" dirty="0"/>
          </a:p>
        </p:txBody>
      </p:sp>
      <p:sp>
        <p:nvSpPr>
          <p:cNvPr id="14" name="Text 8"/>
          <p:cNvSpPr/>
          <p:nvPr/>
        </p:nvSpPr>
        <p:spPr>
          <a:xfrm>
            <a:off x="2079427" y="6500573"/>
            <a:ext cx="7476949" cy="798195"/>
          </a:xfrm>
          <a:prstGeom prst="rect">
            <a:avLst/>
          </a:prstGeom>
          <a:noFill/>
          <a:ln/>
        </p:spPr>
        <p:txBody>
          <a:bodyPr wrap="none" lIns="0" tIns="0" rIns="0" bIns="0" rtlCol="0" anchor="t"/>
          <a:lstStyle/>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Final model incorporated academic performance metrics, </a:t>
            </a:r>
          </a:p>
          <a:p>
            <a:pPr marL="0" indent="0" algn="l">
              <a:lnSpc>
                <a:spcPts val="2600"/>
              </a:lnSpc>
              <a:buNone/>
            </a:pPr>
            <a:r>
              <a:rPr lang="en-US" sz="1600" dirty="0">
                <a:solidFill>
                  <a:srgbClr val="161613"/>
                </a:solidFill>
                <a:latin typeface="Inter" pitchFamily="34" charset="0"/>
                <a:ea typeface="Inter" pitchFamily="34" charset="-122"/>
                <a:cs typeface="Inter" pitchFamily="34" charset="-120"/>
              </a:rPr>
              <a:t>financial indicators, and key demographic variables.</a:t>
            </a:r>
            <a:endParaRPr lang="en-US" sz="1600" dirty="0"/>
          </a:p>
        </p:txBody>
      </p:sp>
      <p:sp>
        <p:nvSpPr>
          <p:cNvPr id="16" name="Rectangle 15">
            <a:extLst>
              <a:ext uri="{FF2B5EF4-FFF2-40B4-BE49-F238E27FC236}">
                <a16:creationId xmlns:a16="http://schemas.microsoft.com/office/drawing/2014/main" id="{CAA67FB9-5625-27F0-3A7E-03F5C74C5067}"/>
              </a:ext>
            </a:extLst>
          </p:cNvPr>
          <p:cNvSpPr/>
          <p:nvPr/>
        </p:nvSpPr>
        <p:spPr>
          <a:xfrm>
            <a:off x="8958729" y="-7941"/>
            <a:ext cx="5667550" cy="8229600"/>
          </a:xfrm>
          <a:prstGeom prst="rect">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17AF6ADA-943A-C1AA-0946-71DD26DB3CEE}"/>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8958730" y="1469293"/>
            <a:ext cx="5667550" cy="59884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1488043"/>
            <a:ext cx="11345228"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Result&amp; Discussion - Overfitting Challenge</a:t>
            </a:r>
            <a:endParaRPr lang="en-US" sz="4450" dirty="0"/>
          </a:p>
        </p:txBody>
      </p:sp>
      <p:sp>
        <p:nvSpPr>
          <p:cNvPr id="3" name="Shape 1"/>
          <p:cNvSpPr/>
          <p:nvPr/>
        </p:nvSpPr>
        <p:spPr>
          <a:xfrm>
            <a:off x="793790" y="2650450"/>
            <a:ext cx="510302" cy="510302"/>
          </a:xfrm>
          <a:prstGeom prst="roundRect">
            <a:avLst>
              <a:gd name="adj" fmla="val 6667"/>
            </a:avLst>
          </a:prstGeom>
          <a:solidFill>
            <a:srgbClr val="EDEBE3"/>
          </a:solidFill>
          <a:ln/>
        </p:spPr>
      </p:sp>
      <p:pic>
        <p:nvPicPr>
          <p:cNvPr id="4" name="Image 0" descr="preencoded.png"/>
          <p:cNvPicPr>
            <a:picLocks noChangeAspect="1"/>
          </p:cNvPicPr>
          <p:nvPr/>
        </p:nvPicPr>
        <p:blipFill>
          <a:blip r:embed="rId3"/>
          <a:stretch>
            <a:fillRect/>
          </a:stretch>
        </p:blipFill>
        <p:spPr>
          <a:xfrm>
            <a:off x="878860" y="2692956"/>
            <a:ext cx="340162" cy="425291"/>
          </a:xfrm>
          <a:prstGeom prst="rect">
            <a:avLst/>
          </a:prstGeom>
        </p:spPr>
      </p:pic>
      <p:sp>
        <p:nvSpPr>
          <p:cNvPr id="5" name="Text 2"/>
          <p:cNvSpPr/>
          <p:nvPr/>
        </p:nvSpPr>
        <p:spPr>
          <a:xfrm>
            <a:off x="1530906" y="2692956"/>
            <a:ext cx="5642610" cy="850583"/>
          </a:xfrm>
          <a:prstGeom prst="rect">
            <a:avLst/>
          </a:prstGeom>
          <a:noFill/>
          <a:ln/>
        </p:spPr>
        <p:txBody>
          <a:bodyPr wrap="square" lIns="0" tIns="0" rIns="0" bIns="0" rtlCol="0" anchor="t"/>
          <a:lstStyle/>
          <a:p>
            <a:pPr marL="0" indent="0" algn="l">
              <a:lnSpc>
                <a:spcPts val="3300"/>
              </a:lnSpc>
              <a:buNone/>
            </a:pPr>
            <a:r>
              <a:rPr lang="en-US" sz="2650" dirty="0">
                <a:solidFill>
                  <a:srgbClr val="161613"/>
                </a:solidFill>
                <a:latin typeface="DM Sans Medium" pitchFamily="34" charset="0"/>
                <a:ea typeface="DM Sans Medium" pitchFamily="34" charset="-122"/>
                <a:cs typeface="DM Sans Medium" pitchFamily="34" charset="-120"/>
              </a:rPr>
              <a:t> Challenge: Overfitting in Initial Models</a:t>
            </a:r>
            <a:endParaRPr lang="en-US" sz="2650" dirty="0"/>
          </a:p>
        </p:txBody>
      </p:sp>
      <p:sp>
        <p:nvSpPr>
          <p:cNvPr id="6" name="Text 3"/>
          <p:cNvSpPr/>
          <p:nvPr/>
        </p:nvSpPr>
        <p:spPr>
          <a:xfrm>
            <a:off x="1530906" y="3679627"/>
            <a:ext cx="5642610"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Decision Tree and Random Forest models achieved </a:t>
            </a:r>
            <a:r>
              <a:rPr lang="en-US" sz="1750" b="1" dirty="0">
                <a:solidFill>
                  <a:srgbClr val="161613"/>
                </a:solidFill>
                <a:latin typeface="Inter" pitchFamily="34" charset="0"/>
                <a:ea typeface="Inter" pitchFamily="34" charset="-122"/>
                <a:cs typeface="Inter" pitchFamily="34" charset="-120"/>
              </a:rPr>
              <a:t>near-perfect training accuracy (~1.00)</a:t>
            </a:r>
            <a:r>
              <a:rPr lang="en-US" sz="1750" dirty="0">
                <a:solidFill>
                  <a:srgbClr val="161613"/>
                </a:solidFill>
                <a:latin typeface="Inter" pitchFamily="34" charset="0"/>
                <a:ea typeface="Inter" pitchFamily="34" charset="-122"/>
                <a:cs typeface="Inter" pitchFamily="34" charset="-120"/>
              </a:rPr>
              <a:t>.</a:t>
            </a:r>
            <a:endParaRPr lang="en-US" sz="1750" dirty="0"/>
          </a:p>
        </p:txBody>
      </p:sp>
      <p:sp>
        <p:nvSpPr>
          <p:cNvPr id="7" name="Text 4"/>
          <p:cNvSpPr/>
          <p:nvPr/>
        </p:nvSpPr>
        <p:spPr>
          <a:xfrm>
            <a:off x="1530906" y="4847630"/>
            <a:ext cx="5642610"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However, their cross-validation accuracy dropped sharply (</a:t>
            </a:r>
            <a:r>
              <a:rPr lang="en-US" sz="1750" b="1" dirty="0">
                <a:solidFill>
                  <a:srgbClr val="161613"/>
                </a:solidFill>
                <a:latin typeface="Inter" pitchFamily="34" charset="0"/>
                <a:ea typeface="Inter" pitchFamily="34" charset="-122"/>
                <a:cs typeface="Inter" pitchFamily="34" charset="-120"/>
              </a:rPr>
              <a:t>as low as 0.8478</a:t>
            </a:r>
            <a:r>
              <a:rPr lang="en-US" sz="1750" dirty="0">
                <a:solidFill>
                  <a:srgbClr val="161613"/>
                </a:solidFill>
                <a:latin typeface="Inter" pitchFamily="34" charset="0"/>
                <a:ea typeface="Inter" pitchFamily="34" charset="-122"/>
                <a:cs typeface="Inter" pitchFamily="34" charset="-120"/>
              </a:rPr>
              <a:t>).</a:t>
            </a:r>
            <a:endParaRPr lang="en-US" sz="1750" dirty="0"/>
          </a:p>
        </p:txBody>
      </p:sp>
      <p:sp>
        <p:nvSpPr>
          <p:cNvPr id="8" name="Text 5"/>
          <p:cNvSpPr/>
          <p:nvPr/>
        </p:nvSpPr>
        <p:spPr>
          <a:xfrm>
            <a:off x="1530906" y="5652730"/>
            <a:ext cx="5642610" cy="1088708"/>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Clear indication of </a:t>
            </a:r>
            <a:r>
              <a:rPr lang="en-US" sz="1750" b="1" dirty="0">
                <a:solidFill>
                  <a:srgbClr val="161613"/>
                </a:solidFill>
                <a:latin typeface="Inter" pitchFamily="34" charset="0"/>
                <a:ea typeface="Inter" pitchFamily="34" charset="-122"/>
                <a:cs typeface="Inter" pitchFamily="34" charset="-120"/>
              </a:rPr>
              <a:t>overfitting</a:t>
            </a:r>
            <a:r>
              <a:rPr lang="en-US" sz="1750" dirty="0">
                <a:solidFill>
                  <a:srgbClr val="161613"/>
                </a:solidFill>
                <a:latin typeface="Inter" pitchFamily="34" charset="0"/>
                <a:ea typeface="Inter" pitchFamily="34" charset="-122"/>
                <a:cs typeface="Inter" pitchFamily="34" charset="-120"/>
              </a:rPr>
              <a:t> — strong performance on training data, poor generalization to unseen data.</a:t>
            </a:r>
            <a:endParaRPr lang="en-US" sz="1750" dirty="0"/>
          </a:p>
        </p:txBody>
      </p:sp>
      <p:sp>
        <p:nvSpPr>
          <p:cNvPr id="9" name="Shape 6"/>
          <p:cNvSpPr/>
          <p:nvPr/>
        </p:nvSpPr>
        <p:spPr>
          <a:xfrm>
            <a:off x="7457003" y="2650450"/>
            <a:ext cx="510302" cy="510302"/>
          </a:xfrm>
          <a:prstGeom prst="roundRect">
            <a:avLst>
              <a:gd name="adj" fmla="val 6667"/>
            </a:avLst>
          </a:prstGeom>
          <a:solidFill>
            <a:srgbClr val="EDEBE3"/>
          </a:solidFill>
          <a:ln/>
        </p:spPr>
      </p:sp>
      <p:pic>
        <p:nvPicPr>
          <p:cNvPr id="10" name="Image 1" descr="preencoded.png"/>
          <p:cNvPicPr>
            <a:picLocks noChangeAspect="1"/>
          </p:cNvPicPr>
          <p:nvPr/>
        </p:nvPicPr>
        <p:blipFill>
          <a:blip r:embed="rId4"/>
          <a:stretch>
            <a:fillRect/>
          </a:stretch>
        </p:blipFill>
        <p:spPr>
          <a:xfrm>
            <a:off x="7542074" y="2692956"/>
            <a:ext cx="340162" cy="425291"/>
          </a:xfrm>
          <a:prstGeom prst="rect">
            <a:avLst/>
          </a:prstGeom>
        </p:spPr>
      </p:pic>
      <p:sp>
        <p:nvSpPr>
          <p:cNvPr id="11" name="Text 7"/>
          <p:cNvSpPr/>
          <p:nvPr/>
        </p:nvSpPr>
        <p:spPr>
          <a:xfrm>
            <a:off x="8194119" y="2692956"/>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61613"/>
                </a:solidFill>
                <a:latin typeface="DM Sans Medium" pitchFamily="34" charset="0"/>
                <a:ea typeface="DM Sans Medium" pitchFamily="34" charset="-122"/>
                <a:cs typeface="DM Sans Medium" pitchFamily="34" charset="-120"/>
              </a:rPr>
              <a:t>Resolution: Tuning</a:t>
            </a:r>
            <a:endParaRPr lang="en-US" sz="2650" dirty="0"/>
          </a:p>
        </p:txBody>
      </p:sp>
      <p:sp>
        <p:nvSpPr>
          <p:cNvPr id="12" name="Text 8"/>
          <p:cNvSpPr/>
          <p:nvPr/>
        </p:nvSpPr>
        <p:spPr>
          <a:xfrm>
            <a:off x="8194119" y="3254335"/>
            <a:ext cx="5642610"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3" name="Text 9"/>
          <p:cNvSpPr/>
          <p:nvPr/>
        </p:nvSpPr>
        <p:spPr>
          <a:xfrm>
            <a:off x="8194119" y="3753326"/>
            <a:ext cx="5642610" cy="1088708"/>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161613"/>
                </a:solidFill>
                <a:latin typeface="Inter" pitchFamily="34" charset="0"/>
                <a:ea typeface="Inter" pitchFamily="34" charset="-122"/>
                <a:cs typeface="Inter" pitchFamily="34" charset="-120"/>
              </a:rPr>
              <a:t>Hyperparameter tuning</a:t>
            </a:r>
            <a:r>
              <a:rPr lang="en-US" sz="1750" dirty="0">
                <a:solidFill>
                  <a:srgbClr val="161613"/>
                </a:solidFill>
                <a:latin typeface="Inter" pitchFamily="34" charset="0"/>
                <a:ea typeface="Inter" pitchFamily="34" charset="-122"/>
                <a:cs typeface="Inter" pitchFamily="34" charset="-120"/>
              </a:rPr>
              <a:t> (via GridSearchCV) applied to Random Forest, Gradient Boosting, and LightGBM.</a:t>
            </a:r>
            <a:endParaRPr lang="en-US" sz="1750" dirty="0"/>
          </a:p>
        </p:txBody>
      </p:sp>
      <p:sp>
        <p:nvSpPr>
          <p:cNvPr id="14" name="Text 10"/>
          <p:cNvSpPr/>
          <p:nvPr/>
        </p:nvSpPr>
        <p:spPr>
          <a:xfrm>
            <a:off x="8194119" y="4921329"/>
            <a:ext cx="5642610" cy="1451610"/>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Inter" pitchFamily="34" charset="0"/>
                <a:ea typeface="Inter" pitchFamily="34" charset="-122"/>
                <a:cs typeface="Inter" pitchFamily="34" charset="-120"/>
              </a:rPr>
              <a:t>Tuning </a:t>
            </a:r>
            <a:r>
              <a:rPr lang="en-US" sz="1750" b="1" dirty="0">
                <a:solidFill>
                  <a:srgbClr val="161613"/>
                </a:solidFill>
                <a:latin typeface="Inter" pitchFamily="34" charset="0"/>
                <a:ea typeface="Inter" pitchFamily="34" charset="-122"/>
                <a:cs typeface="Inter" pitchFamily="34" charset="-120"/>
              </a:rPr>
              <a:t>effectively</a:t>
            </a:r>
            <a:r>
              <a:rPr lang="en-US" sz="1750" dirty="0">
                <a:solidFill>
                  <a:srgbClr val="161613"/>
                </a:solidFill>
                <a:latin typeface="Inter" pitchFamily="34" charset="0"/>
                <a:ea typeface="Inter" pitchFamily="34" charset="-122"/>
                <a:cs typeface="Inter" pitchFamily="34" charset="-120"/>
              </a:rPr>
              <a:t> minimized the gap between training and cross-validation performance, enhancing the models' ability to generalize to unseen student data.</a:t>
            </a:r>
            <a:endParaRPr lang="en-US" sz="1750" dirty="0"/>
          </a:p>
        </p:txBody>
      </p:sp>
      <p:sp>
        <p:nvSpPr>
          <p:cNvPr id="15" name="Rectangle 14">
            <a:extLst>
              <a:ext uri="{FF2B5EF4-FFF2-40B4-BE49-F238E27FC236}">
                <a16:creationId xmlns:a16="http://schemas.microsoft.com/office/drawing/2014/main" id="{F56387CF-2839-A367-5C03-2CBC933689C4}"/>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516499"/>
            <a:ext cx="11882199"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Result&amp; Discussion -Best Performing Models</a:t>
            </a:r>
            <a:endParaRPr lang="en-US" sz="4450" dirty="0"/>
          </a:p>
        </p:txBody>
      </p:sp>
      <p:pic>
        <p:nvPicPr>
          <p:cNvPr id="3" name="Image 0" descr="preencoded.png"/>
          <p:cNvPicPr>
            <a:picLocks noChangeAspect="1"/>
          </p:cNvPicPr>
          <p:nvPr/>
        </p:nvPicPr>
        <p:blipFill>
          <a:blip r:embed="rId3"/>
          <a:stretch>
            <a:fillRect/>
          </a:stretch>
        </p:blipFill>
        <p:spPr>
          <a:xfrm>
            <a:off x="2978348" y="2678906"/>
            <a:ext cx="2152055" cy="1306949"/>
          </a:xfrm>
          <a:prstGeom prst="rect">
            <a:avLst/>
          </a:prstGeom>
        </p:spPr>
      </p:pic>
      <p:pic>
        <p:nvPicPr>
          <p:cNvPr id="4" name="Image 1" descr="preencoded.png"/>
          <p:cNvPicPr>
            <a:picLocks noChangeAspect="1"/>
          </p:cNvPicPr>
          <p:nvPr/>
        </p:nvPicPr>
        <p:blipFill>
          <a:blip r:embed="rId4"/>
          <a:stretch>
            <a:fillRect/>
          </a:stretch>
        </p:blipFill>
        <p:spPr>
          <a:xfrm>
            <a:off x="3894892" y="3294936"/>
            <a:ext cx="318968" cy="398621"/>
          </a:xfrm>
          <a:prstGeom prst="rect">
            <a:avLst/>
          </a:prstGeom>
        </p:spPr>
      </p:pic>
      <p:sp>
        <p:nvSpPr>
          <p:cNvPr id="5" name="Text 1"/>
          <p:cNvSpPr/>
          <p:nvPr/>
        </p:nvSpPr>
        <p:spPr>
          <a:xfrm>
            <a:off x="5357217" y="2905720"/>
            <a:ext cx="3531989"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Gradient Boosting (Tuned)</a:t>
            </a:r>
            <a:endParaRPr lang="en-US" sz="2200" dirty="0"/>
          </a:p>
        </p:txBody>
      </p:sp>
      <p:sp>
        <p:nvSpPr>
          <p:cNvPr id="6" name="Text 2"/>
          <p:cNvSpPr/>
          <p:nvPr/>
        </p:nvSpPr>
        <p:spPr>
          <a:xfrm>
            <a:off x="5357217" y="3396139"/>
            <a:ext cx="4013597"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90.25% Accuracy, 94.29% ROC-AUC</a:t>
            </a:r>
            <a:endParaRPr lang="en-US" sz="1750" dirty="0"/>
          </a:p>
        </p:txBody>
      </p:sp>
      <p:sp>
        <p:nvSpPr>
          <p:cNvPr id="7" name="Shape 3"/>
          <p:cNvSpPr/>
          <p:nvPr/>
        </p:nvSpPr>
        <p:spPr>
          <a:xfrm>
            <a:off x="5187077" y="3998952"/>
            <a:ext cx="8592860" cy="15240"/>
          </a:xfrm>
          <a:prstGeom prst="roundRect">
            <a:avLst>
              <a:gd name="adj" fmla="val 223256"/>
            </a:avLst>
          </a:prstGeom>
          <a:solidFill>
            <a:srgbClr val="D3D1C9"/>
          </a:solidFill>
          <a:ln/>
        </p:spPr>
      </p:sp>
      <p:pic>
        <p:nvPicPr>
          <p:cNvPr id="8" name="Image 2" descr="preencoded.png"/>
          <p:cNvPicPr>
            <a:picLocks noChangeAspect="1"/>
          </p:cNvPicPr>
          <p:nvPr/>
        </p:nvPicPr>
        <p:blipFill>
          <a:blip r:embed="rId5"/>
          <a:stretch>
            <a:fillRect/>
          </a:stretch>
        </p:blipFill>
        <p:spPr>
          <a:xfrm>
            <a:off x="1902381" y="4042529"/>
            <a:ext cx="4304109" cy="1306949"/>
          </a:xfrm>
          <a:prstGeom prst="rect">
            <a:avLst/>
          </a:prstGeom>
        </p:spPr>
      </p:pic>
      <p:pic>
        <p:nvPicPr>
          <p:cNvPr id="9" name="Image 3" descr="preencoded.png"/>
          <p:cNvPicPr>
            <a:picLocks noChangeAspect="1"/>
          </p:cNvPicPr>
          <p:nvPr/>
        </p:nvPicPr>
        <p:blipFill>
          <a:blip r:embed="rId6"/>
          <a:stretch>
            <a:fillRect/>
          </a:stretch>
        </p:blipFill>
        <p:spPr>
          <a:xfrm>
            <a:off x="3894892" y="4496633"/>
            <a:ext cx="318968" cy="398621"/>
          </a:xfrm>
          <a:prstGeom prst="rect">
            <a:avLst/>
          </a:prstGeom>
        </p:spPr>
      </p:pic>
      <p:sp>
        <p:nvSpPr>
          <p:cNvPr id="10" name="Text 4"/>
          <p:cNvSpPr/>
          <p:nvPr/>
        </p:nvSpPr>
        <p:spPr>
          <a:xfrm>
            <a:off x="6433304" y="4269343"/>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Stacking Classifier</a:t>
            </a:r>
            <a:endParaRPr lang="en-US" sz="2200" dirty="0"/>
          </a:p>
        </p:txBody>
      </p:sp>
      <p:sp>
        <p:nvSpPr>
          <p:cNvPr id="11" name="Text 5"/>
          <p:cNvSpPr/>
          <p:nvPr/>
        </p:nvSpPr>
        <p:spPr>
          <a:xfrm>
            <a:off x="6433304" y="4759762"/>
            <a:ext cx="4016454"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90.08% Accuracy, 94.30% ROC-AUC</a:t>
            </a:r>
            <a:endParaRPr lang="en-US" sz="1750" dirty="0"/>
          </a:p>
        </p:txBody>
      </p:sp>
      <p:sp>
        <p:nvSpPr>
          <p:cNvPr id="12" name="Shape 6"/>
          <p:cNvSpPr/>
          <p:nvPr/>
        </p:nvSpPr>
        <p:spPr>
          <a:xfrm>
            <a:off x="6263164" y="5362575"/>
            <a:ext cx="7516773" cy="15240"/>
          </a:xfrm>
          <a:prstGeom prst="roundRect">
            <a:avLst>
              <a:gd name="adj" fmla="val 223256"/>
            </a:avLst>
          </a:prstGeom>
          <a:solidFill>
            <a:srgbClr val="D3D1C9"/>
          </a:solidFill>
          <a:ln/>
        </p:spPr>
      </p:sp>
      <p:pic>
        <p:nvPicPr>
          <p:cNvPr id="13" name="Image 4" descr="preencoded.png"/>
          <p:cNvPicPr>
            <a:picLocks noChangeAspect="1"/>
          </p:cNvPicPr>
          <p:nvPr/>
        </p:nvPicPr>
        <p:blipFill>
          <a:blip r:embed="rId7"/>
          <a:stretch>
            <a:fillRect/>
          </a:stretch>
        </p:blipFill>
        <p:spPr>
          <a:xfrm>
            <a:off x="826294" y="5406152"/>
            <a:ext cx="6456164" cy="1306949"/>
          </a:xfrm>
          <a:prstGeom prst="rect">
            <a:avLst/>
          </a:prstGeom>
        </p:spPr>
      </p:pic>
      <p:pic>
        <p:nvPicPr>
          <p:cNvPr id="14" name="Image 5" descr="preencoded.png"/>
          <p:cNvPicPr>
            <a:picLocks noChangeAspect="1"/>
          </p:cNvPicPr>
          <p:nvPr/>
        </p:nvPicPr>
        <p:blipFill>
          <a:blip r:embed="rId8"/>
          <a:stretch>
            <a:fillRect/>
          </a:stretch>
        </p:blipFill>
        <p:spPr>
          <a:xfrm>
            <a:off x="3894773" y="5860256"/>
            <a:ext cx="318968" cy="398621"/>
          </a:xfrm>
          <a:prstGeom prst="rect">
            <a:avLst/>
          </a:prstGeom>
        </p:spPr>
      </p:pic>
      <p:sp>
        <p:nvSpPr>
          <p:cNvPr id="15" name="Text 7"/>
          <p:cNvSpPr/>
          <p:nvPr/>
        </p:nvSpPr>
        <p:spPr>
          <a:xfrm>
            <a:off x="7509272" y="5632966"/>
            <a:ext cx="3123962"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Random Forest (Tuned)</a:t>
            </a:r>
            <a:endParaRPr lang="en-US" sz="2200" dirty="0"/>
          </a:p>
        </p:txBody>
      </p:sp>
      <p:sp>
        <p:nvSpPr>
          <p:cNvPr id="16" name="Text 8"/>
          <p:cNvSpPr/>
          <p:nvPr/>
        </p:nvSpPr>
        <p:spPr>
          <a:xfrm>
            <a:off x="7509272" y="6123384"/>
            <a:ext cx="3903345"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Inter" pitchFamily="34" charset="0"/>
                <a:ea typeface="Inter" pitchFamily="34" charset="-122"/>
                <a:cs typeface="Inter" pitchFamily="34" charset="-120"/>
              </a:rPr>
              <a:t>89.91% Accuracy, 94.18% ROC-AUC</a:t>
            </a:r>
            <a:endParaRPr lang="en-US" sz="1750" dirty="0"/>
          </a:p>
        </p:txBody>
      </p:sp>
      <p:sp>
        <p:nvSpPr>
          <p:cNvPr id="17" name="Rectangle 16">
            <a:extLst>
              <a:ext uri="{FF2B5EF4-FFF2-40B4-BE49-F238E27FC236}">
                <a16:creationId xmlns:a16="http://schemas.microsoft.com/office/drawing/2014/main" id="{87E93ABC-393F-C6FA-6C30-3DD0BC4DA984}"/>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1228606"/>
            <a:ext cx="8510945"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DM Sans Medium" pitchFamily="34" charset="0"/>
                <a:ea typeface="DM Sans Medium" pitchFamily="34" charset="-122"/>
                <a:cs typeface="DM Sans Medium" pitchFamily="34" charset="-120"/>
              </a:rPr>
              <a:t>Comparison with Related Works</a:t>
            </a:r>
            <a:endParaRPr lang="en-US" sz="4450" dirty="0"/>
          </a:p>
        </p:txBody>
      </p:sp>
      <p:sp>
        <p:nvSpPr>
          <p:cNvPr id="3" name="Shape 1"/>
          <p:cNvSpPr/>
          <p:nvPr/>
        </p:nvSpPr>
        <p:spPr>
          <a:xfrm>
            <a:off x="793790" y="4877395"/>
            <a:ext cx="13042821" cy="30480"/>
          </a:xfrm>
          <a:prstGeom prst="roundRect">
            <a:avLst>
              <a:gd name="adj" fmla="val 111628"/>
            </a:avLst>
          </a:prstGeom>
          <a:solidFill>
            <a:srgbClr val="D3D1C9"/>
          </a:solidFill>
          <a:ln/>
        </p:spPr>
      </p:sp>
      <p:sp>
        <p:nvSpPr>
          <p:cNvPr id="4" name="Shape 2"/>
          <p:cNvSpPr/>
          <p:nvPr/>
        </p:nvSpPr>
        <p:spPr>
          <a:xfrm>
            <a:off x="3968353" y="4196953"/>
            <a:ext cx="30480" cy="680442"/>
          </a:xfrm>
          <a:prstGeom prst="roundRect">
            <a:avLst>
              <a:gd name="adj" fmla="val 111628"/>
            </a:avLst>
          </a:prstGeom>
          <a:solidFill>
            <a:srgbClr val="D3D1C9"/>
          </a:solidFill>
          <a:ln/>
        </p:spPr>
      </p:sp>
      <p:sp>
        <p:nvSpPr>
          <p:cNvPr id="5" name="Shape 3"/>
          <p:cNvSpPr/>
          <p:nvPr/>
        </p:nvSpPr>
        <p:spPr>
          <a:xfrm>
            <a:off x="3728442" y="4622244"/>
            <a:ext cx="510302" cy="510302"/>
          </a:xfrm>
          <a:prstGeom prst="roundRect">
            <a:avLst>
              <a:gd name="adj" fmla="val 6667"/>
            </a:avLst>
          </a:prstGeom>
          <a:solidFill>
            <a:srgbClr val="EDEBE3"/>
          </a:solidFill>
          <a:ln/>
        </p:spPr>
      </p:sp>
      <p:sp>
        <p:nvSpPr>
          <p:cNvPr id="6" name="Text 4"/>
          <p:cNvSpPr/>
          <p:nvPr/>
        </p:nvSpPr>
        <p:spPr>
          <a:xfrm>
            <a:off x="3813512" y="4664750"/>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1</a:t>
            </a:r>
            <a:endParaRPr lang="en-US" sz="2650" dirty="0"/>
          </a:p>
        </p:txBody>
      </p:sp>
      <p:sp>
        <p:nvSpPr>
          <p:cNvPr id="7" name="Text 5"/>
          <p:cNvSpPr/>
          <p:nvPr/>
        </p:nvSpPr>
        <p:spPr>
          <a:xfrm>
            <a:off x="2565916" y="2753916"/>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Arora (2023)</a:t>
            </a:r>
            <a:endParaRPr lang="en-US" sz="2200" dirty="0"/>
          </a:p>
        </p:txBody>
      </p:sp>
      <p:sp>
        <p:nvSpPr>
          <p:cNvPr id="8" name="Text 6"/>
          <p:cNvSpPr/>
          <p:nvPr/>
        </p:nvSpPr>
        <p:spPr>
          <a:xfrm>
            <a:off x="1020604" y="3244334"/>
            <a:ext cx="5925979" cy="725805"/>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Achieved 88% accuracy using ensemble models like Random Forest and XGBoost</a:t>
            </a:r>
            <a:endParaRPr lang="en-US" sz="1750" dirty="0"/>
          </a:p>
        </p:txBody>
      </p:sp>
      <p:sp>
        <p:nvSpPr>
          <p:cNvPr id="9" name="Shape 7"/>
          <p:cNvSpPr/>
          <p:nvPr/>
        </p:nvSpPr>
        <p:spPr>
          <a:xfrm>
            <a:off x="7299841" y="4877395"/>
            <a:ext cx="30480" cy="680442"/>
          </a:xfrm>
          <a:prstGeom prst="roundRect">
            <a:avLst>
              <a:gd name="adj" fmla="val 111628"/>
            </a:avLst>
          </a:prstGeom>
          <a:solidFill>
            <a:srgbClr val="D3D1C9"/>
          </a:solidFill>
          <a:ln/>
        </p:spPr>
      </p:sp>
      <p:sp>
        <p:nvSpPr>
          <p:cNvPr id="10" name="Shape 8"/>
          <p:cNvSpPr/>
          <p:nvPr/>
        </p:nvSpPr>
        <p:spPr>
          <a:xfrm>
            <a:off x="7059930" y="4622244"/>
            <a:ext cx="510302" cy="510302"/>
          </a:xfrm>
          <a:prstGeom prst="roundRect">
            <a:avLst>
              <a:gd name="adj" fmla="val 6667"/>
            </a:avLst>
          </a:prstGeom>
          <a:solidFill>
            <a:srgbClr val="EDEBE3"/>
          </a:solidFill>
          <a:ln/>
        </p:spPr>
      </p:sp>
      <p:sp>
        <p:nvSpPr>
          <p:cNvPr id="11" name="Text 9"/>
          <p:cNvSpPr/>
          <p:nvPr/>
        </p:nvSpPr>
        <p:spPr>
          <a:xfrm>
            <a:off x="7145000" y="4664750"/>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2</a:t>
            </a:r>
            <a:endParaRPr lang="en-US" sz="2650" dirty="0"/>
          </a:p>
        </p:txBody>
      </p:sp>
      <p:sp>
        <p:nvSpPr>
          <p:cNvPr id="12" name="Text 10"/>
          <p:cNvSpPr/>
          <p:nvPr/>
        </p:nvSpPr>
        <p:spPr>
          <a:xfrm>
            <a:off x="5897523" y="5784652"/>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Ridwan et al. (2024)</a:t>
            </a:r>
            <a:endParaRPr lang="en-US" sz="2200" dirty="0"/>
          </a:p>
        </p:txBody>
      </p:sp>
      <p:sp>
        <p:nvSpPr>
          <p:cNvPr id="13" name="Text 11"/>
          <p:cNvSpPr/>
          <p:nvPr/>
        </p:nvSpPr>
        <p:spPr>
          <a:xfrm>
            <a:off x="4352092" y="6275070"/>
            <a:ext cx="5926098" cy="725805"/>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Reported 92.5% accuracy using XGBoost on the same dataset with ROC-AUC around 95%</a:t>
            </a:r>
            <a:endParaRPr lang="en-US" sz="1750" dirty="0"/>
          </a:p>
        </p:txBody>
      </p:sp>
      <p:sp>
        <p:nvSpPr>
          <p:cNvPr id="14" name="Shape 12"/>
          <p:cNvSpPr/>
          <p:nvPr/>
        </p:nvSpPr>
        <p:spPr>
          <a:xfrm>
            <a:off x="10631448" y="4196953"/>
            <a:ext cx="30480" cy="680442"/>
          </a:xfrm>
          <a:prstGeom prst="roundRect">
            <a:avLst>
              <a:gd name="adj" fmla="val 111628"/>
            </a:avLst>
          </a:prstGeom>
          <a:solidFill>
            <a:srgbClr val="D3D1C9"/>
          </a:solidFill>
          <a:ln/>
        </p:spPr>
      </p:sp>
      <p:sp>
        <p:nvSpPr>
          <p:cNvPr id="15" name="Shape 13"/>
          <p:cNvSpPr/>
          <p:nvPr/>
        </p:nvSpPr>
        <p:spPr>
          <a:xfrm>
            <a:off x="10391537" y="4622244"/>
            <a:ext cx="510302" cy="510302"/>
          </a:xfrm>
          <a:prstGeom prst="roundRect">
            <a:avLst>
              <a:gd name="adj" fmla="val 6667"/>
            </a:avLst>
          </a:prstGeom>
          <a:solidFill>
            <a:srgbClr val="EDEBE3"/>
          </a:solidFill>
          <a:ln/>
        </p:spPr>
      </p:sp>
      <p:sp>
        <p:nvSpPr>
          <p:cNvPr id="16" name="Text 14"/>
          <p:cNvSpPr/>
          <p:nvPr/>
        </p:nvSpPr>
        <p:spPr>
          <a:xfrm>
            <a:off x="10476607" y="4664750"/>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161613"/>
                </a:solidFill>
                <a:latin typeface="DM Sans Medium" pitchFamily="34" charset="0"/>
                <a:ea typeface="DM Sans Medium" pitchFamily="34" charset="-122"/>
                <a:cs typeface="DM Sans Medium" pitchFamily="34" charset="-120"/>
              </a:rPr>
              <a:t>3</a:t>
            </a:r>
            <a:endParaRPr lang="en-US" sz="2650" dirty="0"/>
          </a:p>
        </p:txBody>
      </p:sp>
      <p:sp>
        <p:nvSpPr>
          <p:cNvPr id="17" name="Text 15"/>
          <p:cNvSpPr/>
          <p:nvPr/>
        </p:nvSpPr>
        <p:spPr>
          <a:xfrm>
            <a:off x="9229130" y="2391013"/>
            <a:ext cx="2835235" cy="354330"/>
          </a:xfrm>
          <a:prstGeom prst="rect">
            <a:avLst/>
          </a:prstGeom>
          <a:noFill/>
          <a:ln/>
        </p:spPr>
        <p:txBody>
          <a:bodyPr wrap="none" lIns="0" tIns="0" rIns="0" bIns="0" rtlCol="0" anchor="t"/>
          <a:lstStyle/>
          <a:p>
            <a:pPr marL="0" indent="0" algn="ctr">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Our Study</a:t>
            </a:r>
            <a:endParaRPr lang="en-US" sz="2200" dirty="0"/>
          </a:p>
        </p:txBody>
      </p:sp>
      <p:sp>
        <p:nvSpPr>
          <p:cNvPr id="18" name="Text 16"/>
          <p:cNvSpPr/>
          <p:nvPr/>
        </p:nvSpPr>
        <p:spPr>
          <a:xfrm>
            <a:off x="7683698" y="2881432"/>
            <a:ext cx="5926098" cy="1088708"/>
          </a:xfrm>
          <a:prstGeom prst="rect">
            <a:avLst/>
          </a:prstGeom>
          <a:noFill/>
          <a:ln/>
        </p:spPr>
        <p:txBody>
          <a:bodyPr wrap="square" lIns="0" tIns="0" rIns="0" bIns="0" rtlCol="0" anchor="t"/>
          <a:lstStyle/>
          <a:p>
            <a:pPr marL="0" indent="0" algn="ctr">
              <a:lnSpc>
                <a:spcPts val="2850"/>
              </a:lnSpc>
              <a:buNone/>
            </a:pPr>
            <a:r>
              <a:rPr lang="en-US" sz="1750" dirty="0">
                <a:solidFill>
                  <a:srgbClr val="161613"/>
                </a:solidFill>
                <a:latin typeface="Inter" pitchFamily="34" charset="0"/>
                <a:ea typeface="Inter" pitchFamily="34" charset="-122"/>
                <a:cs typeface="Inter" pitchFamily="34" charset="-120"/>
              </a:rPr>
              <a:t>Achieved 90.25% accuracy and 94.29% ROC-AUC with tuned Gradient Boosting, balancing performance and interpretability</a:t>
            </a:r>
            <a:endParaRPr lang="en-US" sz="1750" dirty="0"/>
          </a:p>
        </p:txBody>
      </p:sp>
      <p:sp>
        <p:nvSpPr>
          <p:cNvPr id="19" name="Rectangle 18">
            <a:extLst>
              <a:ext uri="{FF2B5EF4-FFF2-40B4-BE49-F238E27FC236}">
                <a16:creationId xmlns:a16="http://schemas.microsoft.com/office/drawing/2014/main" id="{61A83A27-A994-BC2A-506B-A271B20B5A36}"/>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80098" y="792480"/>
            <a:ext cx="7421047" cy="696516"/>
          </a:xfrm>
          <a:prstGeom prst="rect">
            <a:avLst/>
          </a:prstGeom>
          <a:noFill/>
          <a:ln/>
        </p:spPr>
        <p:txBody>
          <a:bodyPr wrap="none" lIns="0" tIns="0" rIns="0" bIns="0" rtlCol="0" anchor="t"/>
          <a:lstStyle/>
          <a:p>
            <a:pPr marL="0" indent="0" algn="l">
              <a:lnSpc>
                <a:spcPts val="5450"/>
              </a:lnSpc>
              <a:buNone/>
            </a:pPr>
            <a:r>
              <a:rPr lang="en-US" sz="4350" dirty="0">
                <a:solidFill>
                  <a:srgbClr val="161613"/>
                </a:solidFill>
                <a:latin typeface="DM Sans Medium" pitchFamily="34" charset="0"/>
                <a:ea typeface="DM Sans Medium" pitchFamily="34" charset="-122"/>
                <a:cs typeface="DM Sans Medium" pitchFamily="34" charset="-120"/>
              </a:rPr>
              <a:t>Conclusion and Future Work</a:t>
            </a:r>
            <a:endParaRPr lang="en-US" sz="4350" dirty="0"/>
          </a:p>
        </p:txBody>
      </p:sp>
      <p:sp>
        <p:nvSpPr>
          <p:cNvPr id="3" name="Shape 1"/>
          <p:cNvSpPr/>
          <p:nvPr/>
        </p:nvSpPr>
        <p:spPr>
          <a:xfrm>
            <a:off x="780098" y="1934766"/>
            <a:ext cx="2178248" cy="1284327"/>
          </a:xfrm>
          <a:prstGeom prst="roundRect">
            <a:avLst>
              <a:gd name="adj" fmla="val 2603"/>
            </a:avLst>
          </a:prstGeom>
          <a:solidFill>
            <a:srgbClr val="EDEBE3"/>
          </a:solidFill>
          <a:ln/>
        </p:spPr>
      </p:sp>
      <p:pic>
        <p:nvPicPr>
          <p:cNvPr id="4" name="Image 0" descr="preencoded.png"/>
          <p:cNvPicPr>
            <a:picLocks noChangeAspect="1"/>
          </p:cNvPicPr>
          <p:nvPr/>
        </p:nvPicPr>
        <p:blipFill>
          <a:blip r:embed="rId3"/>
          <a:stretch>
            <a:fillRect/>
          </a:stretch>
        </p:blipFill>
        <p:spPr>
          <a:xfrm>
            <a:off x="1712476" y="2381012"/>
            <a:ext cx="313373" cy="391716"/>
          </a:xfrm>
          <a:prstGeom prst="rect">
            <a:avLst/>
          </a:prstGeom>
        </p:spPr>
      </p:pic>
      <p:sp>
        <p:nvSpPr>
          <p:cNvPr id="5" name="Text 2"/>
          <p:cNvSpPr/>
          <p:nvPr/>
        </p:nvSpPr>
        <p:spPr>
          <a:xfrm>
            <a:off x="3181231" y="2157651"/>
            <a:ext cx="3232190" cy="348258"/>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Key Predictors Identified</a:t>
            </a:r>
            <a:endParaRPr lang="en-US" sz="2150" dirty="0"/>
          </a:p>
        </p:txBody>
      </p:sp>
      <p:sp>
        <p:nvSpPr>
          <p:cNvPr id="6" name="Text 3"/>
          <p:cNvSpPr/>
          <p:nvPr/>
        </p:nvSpPr>
        <p:spPr>
          <a:xfrm>
            <a:off x="3181231" y="2639616"/>
            <a:ext cx="7691914" cy="356592"/>
          </a:xfrm>
          <a:prstGeom prst="rect">
            <a:avLst/>
          </a:prstGeom>
          <a:noFill/>
          <a:ln/>
        </p:spPr>
        <p:txBody>
          <a:bodyPr wrap="none" lIns="0" tIns="0" rIns="0" bIns="0" rtlCol="0" anchor="t"/>
          <a:lstStyle/>
          <a:p>
            <a:pPr marL="0" indent="0" algn="l">
              <a:lnSpc>
                <a:spcPts val="2800"/>
              </a:lnSpc>
              <a:buNone/>
            </a:pPr>
            <a:r>
              <a:rPr lang="en-US" sz="1750" dirty="0">
                <a:solidFill>
                  <a:srgbClr val="161613"/>
                </a:solidFill>
                <a:latin typeface="Inter" pitchFamily="34" charset="0"/>
                <a:ea typeface="Inter" pitchFamily="34" charset="-122"/>
                <a:cs typeface="Inter" pitchFamily="34" charset="-120"/>
              </a:rPr>
              <a:t>Early academic performance, financial stability, and demographic factors</a:t>
            </a:r>
            <a:endParaRPr lang="en-US" sz="1750" dirty="0"/>
          </a:p>
        </p:txBody>
      </p:sp>
      <p:sp>
        <p:nvSpPr>
          <p:cNvPr id="7" name="Shape 4"/>
          <p:cNvSpPr/>
          <p:nvPr/>
        </p:nvSpPr>
        <p:spPr>
          <a:xfrm>
            <a:off x="3069788" y="3203853"/>
            <a:ext cx="10669072" cy="15240"/>
          </a:xfrm>
          <a:prstGeom prst="roundRect">
            <a:avLst>
              <a:gd name="adj" fmla="val 219396"/>
            </a:avLst>
          </a:prstGeom>
          <a:solidFill>
            <a:srgbClr val="D3D1C9"/>
          </a:solidFill>
          <a:ln/>
        </p:spPr>
      </p:sp>
      <p:sp>
        <p:nvSpPr>
          <p:cNvPr id="8" name="Shape 5"/>
          <p:cNvSpPr/>
          <p:nvPr/>
        </p:nvSpPr>
        <p:spPr>
          <a:xfrm>
            <a:off x="780098" y="3330535"/>
            <a:ext cx="4356616" cy="1284327"/>
          </a:xfrm>
          <a:prstGeom prst="roundRect">
            <a:avLst>
              <a:gd name="adj" fmla="val 2603"/>
            </a:avLst>
          </a:prstGeom>
          <a:solidFill>
            <a:srgbClr val="EDEBE3"/>
          </a:solidFill>
          <a:ln/>
        </p:spPr>
      </p:sp>
      <p:pic>
        <p:nvPicPr>
          <p:cNvPr id="9" name="Image 1" descr="preencoded.png"/>
          <p:cNvPicPr>
            <a:picLocks noChangeAspect="1"/>
          </p:cNvPicPr>
          <p:nvPr/>
        </p:nvPicPr>
        <p:blipFill>
          <a:blip r:embed="rId4"/>
          <a:stretch>
            <a:fillRect/>
          </a:stretch>
        </p:blipFill>
        <p:spPr>
          <a:xfrm>
            <a:off x="2801660" y="3776782"/>
            <a:ext cx="313373" cy="391716"/>
          </a:xfrm>
          <a:prstGeom prst="rect">
            <a:avLst/>
          </a:prstGeom>
        </p:spPr>
      </p:pic>
      <p:sp>
        <p:nvSpPr>
          <p:cNvPr id="10" name="Text 6"/>
          <p:cNvSpPr/>
          <p:nvPr/>
        </p:nvSpPr>
        <p:spPr>
          <a:xfrm>
            <a:off x="5359598" y="3553420"/>
            <a:ext cx="4366736" cy="348258"/>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Successful Prediction Framework</a:t>
            </a:r>
            <a:endParaRPr lang="en-US" sz="2150" dirty="0"/>
          </a:p>
        </p:txBody>
      </p:sp>
      <p:sp>
        <p:nvSpPr>
          <p:cNvPr id="11" name="Text 7"/>
          <p:cNvSpPr/>
          <p:nvPr/>
        </p:nvSpPr>
        <p:spPr>
          <a:xfrm>
            <a:off x="5359598" y="4035385"/>
            <a:ext cx="8267819" cy="356592"/>
          </a:xfrm>
          <a:prstGeom prst="rect">
            <a:avLst/>
          </a:prstGeom>
          <a:noFill/>
          <a:ln/>
        </p:spPr>
        <p:txBody>
          <a:bodyPr wrap="none" lIns="0" tIns="0" rIns="0" bIns="0" rtlCol="0" anchor="t"/>
          <a:lstStyle/>
          <a:p>
            <a:pPr marL="0" indent="0" algn="l">
              <a:lnSpc>
                <a:spcPts val="2800"/>
              </a:lnSpc>
              <a:buNone/>
            </a:pPr>
            <a:r>
              <a:rPr lang="en-US" sz="1750" dirty="0">
                <a:solidFill>
                  <a:srgbClr val="161613"/>
                </a:solidFill>
                <a:latin typeface="Inter" pitchFamily="34" charset="0"/>
                <a:ea typeface="Inter" pitchFamily="34" charset="-122"/>
                <a:cs typeface="Inter" pitchFamily="34" charset="-120"/>
              </a:rPr>
              <a:t>Developed models with up to 90.25% accuracy for student dropout prediction. </a:t>
            </a:r>
            <a:endParaRPr lang="en-US" sz="1750" dirty="0"/>
          </a:p>
        </p:txBody>
      </p:sp>
      <p:sp>
        <p:nvSpPr>
          <p:cNvPr id="12" name="Shape 8"/>
          <p:cNvSpPr/>
          <p:nvPr/>
        </p:nvSpPr>
        <p:spPr>
          <a:xfrm>
            <a:off x="5248156" y="4599623"/>
            <a:ext cx="8490704" cy="15240"/>
          </a:xfrm>
          <a:prstGeom prst="roundRect">
            <a:avLst>
              <a:gd name="adj" fmla="val 219396"/>
            </a:avLst>
          </a:prstGeom>
          <a:solidFill>
            <a:srgbClr val="D3D1C9"/>
          </a:solidFill>
          <a:ln/>
        </p:spPr>
      </p:sp>
      <p:sp>
        <p:nvSpPr>
          <p:cNvPr id="13" name="Shape 9"/>
          <p:cNvSpPr/>
          <p:nvPr/>
        </p:nvSpPr>
        <p:spPr>
          <a:xfrm>
            <a:off x="780098" y="4726305"/>
            <a:ext cx="6535103" cy="2710696"/>
          </a:xfrm>
          <a:prstGeom prst="roundRect">
            <a:avLst>
              <a:gd name="adj" fmla="val 1233"/>
            </a:avLst>
          </a:prstGeom>
          <a:solidFill>
            <a:srgbClr val="EDEBE3"/>
          </a:solidFill>
          <a:ln/>
        </p:spPr>
      </p:sp>
      <p:pic>
        <p:nvPicPr>
          <p:cNvPr id="14" name="Image 2" descr="preencoded.png"/>
          <p:cNvPicPr>
            <a:picLocks noChangeAspect="1"/>
          </p:cNvPicPr>
          <p:nvPr/>
        </p:nvPicPr>
        <p:blipFill>
          <a:blip r:embed="rId5"/>
          <a:stretch>
            <a:fillRect/>
          </a:stretch>
        </p:blipFill>
        <p:spPr>
          <a:xfrm>
            <a:off x="3890962" y="5885736"/>
            <a:ext cx="313373" cy="391716"/>
          </a:xfrm>
          <a:prstGeom prst="rect">
            <a:avLst/>
          </a:prstGeom>
        </p:spPr>
      </p:pic>
      <p:sp>
        <p:nvSpPr>
          <p:cNvPr id="15" name="Text 10"/>
          <p:cNvSpPr/>
          <p:nvPr/>
        </p:nvSpPr>
        <p:spPr>
          <a:xfrm>
            <a:off x="7538085" y="4949190"/>
            <a:ext cx="2886075" cy="348258"/>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DM Sans Medium" pitchFamily="34" charset="0"/>
                <a:ea typeface="DM Sans Medium" pitchFamily="34" charset="-122"/>
                <a:cs typeface="DM Sans Medium" pitchFamily="34" charset="-120"/>
              </a:rPr>
              <a:t>Future Enhancements</a:t>
            </a:r>
            <a:endParaRPr lang="en-US" sz="2150" dirty="0"/>
          </a:p>
        </p:txBody>
      </p:sp>
      <p:sp>
        <p:nvSpPr>
          <p:cNvPr id="16" name="Text 11"/>
          <p:cNvSpPr/>
          <p:nvPr/>
        </p:nvSpPr>
        <p:spPr>
          <a:xfrm>
            <a:off x="7538085" y="5431155"/>
            <a:ext cx="6089333" cy="1782961"/>
          </a:xfrm>
          <a:prstGeom prst="rect">
            <a:avLst/>
          </a:prstGeom>
          <a:noFill/>
          <a:ln/>
        </p:spPr>
        <p:txBody>
          <a:bodyPr wrap="square" lIns="0" tIns="0" rIns="0" bIns="0" rtlCol="0" anchor="t"/>
          <a:lstStyle/>
          <a:p>
            <a:pPr marL="0" indent="0" algn="l">
              <a:lnSpc>
                <a:spcPts val="2800"/>
              </a:lnSpc>
              <a:buNone/>
            </a:pPr>
            <a:r>
              <a:rPr lang="en-US" sz="1750" dirty="0">
                <a:solidFill>
                  <a:srgbClr val="161613"/>
                </a:solidFill>
                <a:latin typeface="Inter" pitchFamily="34" charset="0"/>
                <a:ea typeface="Inter" pitchFamily="34" charset="-122"/>
                <a:cs typeface="Inter" pitchFamily="34" charset="-120"/>
              </a:rPr>
              <a:t>Focus on </a:t>
            </a:r>
            <a:r>
              <a:rPr lang="en-US" sz="1750" b="1" dirty="0">
                <a:solidFill>
                  <a:srgbClr val="161613"/>
                </a:solidFill>
                <a:latin typeface="Inter" pitchFamily="34" charset="0"/>
                <a:ea typeface="Inter" pitchFamily="34" charset="-122"/>
                <a:cs typeface="Inter" pitchFamily="34" charset="-120"/>
              </a:rPr>
              <a:t>expanding the feature set</a:t>
            </a:r>
            <a:r>
              <a:rPr lang="en-US" sz="1750" dirty="0">
                <a:solidFill>
                  <a:srgbClr val="161613"/>
                </a:solidFill>
                <a:latin typeface="Inter" pitchFamily="34" charset="0"/>
                <a:ea typeface="Inter" pitchFamily="34" charset="-122"/>
                <a:cs typeface="Inter" pitchFamily="34" charset="-120"/>
              </a:rPr>
              <a:t> with real-time behavioral data, assessing model </a:t>
            </a:r>
            <a:r>
              <a:rPr lang="en-US" sz="1750" b="1" dirty="0">
                <a:solidFill>
                  <a:srgbClr val="161613"/>
                </a:solidFill>
                <a:latin typeface="Inter" pitchFamily="34" charset="0"/>
                <a:ea typeface="Inter" pitchFamily="34" charset="-122"/>
                <a:cs typeface="Inter" pitchFamily="34" charset="-120"/>
              </a:rPr>
              <a:t>generalizability </a:t>
            </a:r>
            <a:r>
              <a:rPr lang="en-US" sz="1750" dirty="0">
                <a:solidFill>
                  <a:srgbClr val="161613"/>
                </a:solidFill>
                <a:latin typeface="Inter" pitchFamily="34" charset="0"/>
                <a:ea typeface="Inter" pitchFamily="34" charset="-122"/>
                <a:cs typeface="Inter" pitchFamily="34" charset="-120"/>
              </a:rPr>
              <a:t>across diverse institutional settings, and ultimately deploying a </a:t>
            </a:r>
            <a:r>
              <a:rPr lang="en-US" sz="1750" b="1" dirty="0">
                <a:solidFill>
                  <a:srgbClr val="161613"/>
                </a:solidFill>
                <a:latin typeface="Inter" pitchFamily="34" charset="0"/>
                <a:ea typeface="Inter" pitchFamily="34" charset="-122"/>
                <a:cs typeface="Inter" pitchFamily="34" charset="-120"/>
              </a:rPr>
              <a:t>real-time predictive </a:t>
            </a:r>
            <a:r>
              <a:rPr lang="en-US" sz="1750" dirty="0">
                <a:solidFill>
                  <a:srgbClr val="161613"/>
                </a:solidFill>
                <a:latin typeface="Inter" pitchFamily="34" charset="0"/>
                <a:ea typeface="Inter" pitchFamily="34" charset="-122"/>
                <a:cs typeface="Inter" pitchFamily="34" charset="-120"/>
              </a:rPr>
              <a:t>dashboard for continuous student risk monitoring.</a:t>
            </a:r>
            <a:endParaRPr lang="en-US" sz="1750" dirty="0"/>
          </a:p>
        </p:txBody>
      </p:sp>
      <p:sp>
        <p:nvSpPr>
          <p:cNvPr id="17" name="Rectangle 16">
            <a:extLst>
              <a:ext uri="{FF2B5EF4-FFF2-40B4-BE49-F238E27FC236}">
                <a16:creationId xmlns:a16="http://schemas.microsoft.com/office/drawing/2014/main" id="{2D6F14A3-1310-8664-CCFF-3AC6B61D4CB3}"/>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04017" y="553879"/>
            <a:ext cx="5029319" cy="628650"/>
          </a:xfrm>
          <a:prstGeom prst="rect">
            <a:avLst/>
          </a:prstGeom>
          <a:noFill/>
          <a:ln/>
        </p:spPr>
        <p:txBody>
          <a:bodyPr wrap="none" lIns="0" tIns="0" rIns="0" bIns="0" rtlCol="0" anchor="t"/>
          <a:lstStyle/>
          <a:p>
            <a:pPr marL="0" indent="0" algn="l">
              <a:lnSpc>
                <a:spcPts val="4950"/>
              </a:lnSpc>
              <a:buNone/>
            </a:pPr>
            <a:r>
              <a:rPr lang="en-US" sz="3950" dirty="0">
                <a:solidFill>
                  <a:srgbClr val="161613"/>
                </a:solidFill>
                <a:latin typeface="DM Sans Medium" pitchFamily="34" charset="0"/>
                <a:ea typeface="DM Sans Medium" pitchFamily="34" charset="-122"/>
                <a:cs typeface="DM Sans Medium" pitchFamily="34" charset="-120"/>
              </a:rPr>
              <a:t>References</a:t>
            </a:r>
            <a:endParaRPr lang="en-US" sz="3950" dirty="0"/>
          </a:p>
        </p:txBody>
      </p:sp>
      <p:sp>
        <p:nvSpPr>
          <p:cNvPr id="3" name="Text 1"/>
          <p:cNvSpPr/>
          <p:nvPr/>
        </p:nvSpPr>
        <p:spPr>
          <a:xfrm>
            <a:off x="704017" y="1584841"/>
            <a:ext cx="13222367" cy="321945"/>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Andrade-Girón, D., Sandivar-Rosas, J., Marín-Rodriguez, W., Susanibar-Ramirez, E., Toro-</a:t>
            </a:r>
            <a:endParaRPr lang="en-US" sz="1550" dirty="0"/>
          </a:p>
        </p:txBody>
      </p:sp>
      <p:sp>
        <p:nvSpPr>
          <p:cNvPr id="4" name="Text 2"/>
          <p:cNvSpPr/>
          <p:nvPr/>
        </p:nvSpPr>
        <p:spPr>
          <a:xfrm>
            <a:off x="704017" y="2133005"/>
            <a:ext cx="13222367" cy="643890"/>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Dextre, E., Ausejo-Sanchez, J., &amp; Angeles-Morales, J. (2023). </a:t>
            </a:r>
            <a:r>
              <a:rPr lang="en-US" sz="1550" i="1" dirty="0">
                <a:solidFill>
                  <a:srgbClr val="161613"/>
                </a:solidFill>
                <a:latin typeface="Inter" pitchFamily="34" charset="0"/>
                <a:ea typeface="Inter" pitchFamily="34" charset="-122"/>
                <a:cs typeface="Inter" pitchFamily="34" charset="-120"/>
              </a:rPr>
              <a:t>Predicting student dropout based on machine learning and deep learning: A systematic review.</a:t>
            </a:r>
            <a:r>
              <a:rPr lang="en-US" sz="1550" dirty="0">
                <a:solidFill>
                  <a:srgbClr val="161613"/>
                </a:solidFill>
                <a:latin typeface="Inter" pitchFamily="34" charset="0"/>
                <a:ea typeface="Inter" pitchFamily="34" charset="-122"/>
                <a:cs typeface="Inter" pitchFamily="34" charset="-120"/>
              </a:rPr>
              <a:t> EAI Endorsed Transactions on Scalable Information Systems.</a:t>
            </a:r>
            <a:endParaRPr lang="en-US" sz="1550" dirty="0"/>
          </a:p>
        </p:txBody>
      </p:sp>
      <p:sp>
        <p:nvSpPr>
          <p:cNvPr id="5" name="Text 3"/>
          <p:cNvSpPr/>
          <p:nvPr/>
        </p:nvSpPr>
        <p:spPr>
          <a:xfrm>
            <a:off x="704017" y="3003113"/>
            <a:ext cx="13222367" cy="643890"/>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Arora, D. (2023). </a:t>
            </a:r>
            <a:r>
              <a:rPr lang="en-US" sz="1550" i="1" dirty="0">
                <a:solidFill>
                  <a:srgbClr val="161613"/>
                </a:solidFill>
                <a:latin typeface="Inter" pitchFamily="34" charset="0"/>
                <a:ea typeface="Inter" pitchFamily="34" charset="-122"/>
                <a:cs typeface="Inter" pitchFamily="34" charset="-120"/>
              </a:rPr>
              <a:t>Predicting Students Academic Success and Dropout Using Supervised Machine Learning.</a:t>
            </a:r>
            <a:r>
              <a:rPr lang="en-US" sz="1550" dirty="0">
                <a:solidFill>
                  <a:srgbClr val="161613"/>
                </a:solidFill>
                <a:latin typeface="Inter" pitchFamily="34" charset="0"/>
                <a:ea typeface="Inter" pitchFamily="34" charset="-122"/>
                <a:cs typeface="Inter" pitchFamily="34" charset="-120"/>
              </a:rPr>
              <a:t> International Journal of Scientific Study, 11(6).</a:t>
            </a:r>
            <a:endParaRPr lang="en-US" sz="1550" dirty="0"/>
          </a:p>
        </p:txBody>
      </p:sp>
      <p:sp>
        <p:nvSpPr>
          <p:cNvPr id="6" name="Text 4"/>
          <p:cNvSpPr/>
          <p:nvPr/>
        </p:nvSpPr>
        <p:spPr>
          <a:xfrm>
            <a:off x="704017" y="3873222"/>
            <a:ext cx="13222367" cy="643890"/>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Dake, D. K., &amp; Buabeng-Andoh, C. (2022). </a:t>
            </a:r>
            <a:r>
              <a:rPr lang="en-US" sz="1550" i="1" dirty="0">
                <a:solidFill>
                  <a:srgbClr val="161613"/>
                </a:solidFill>
                <a:latin typeface="Inter" pitchFamily="34" charset="0"/>
                <a:ea typeface="Inter" pitchFamily="34" charset="-122"/>
                <a:cs typeface="Inter" pitchFamily="34" charset="-120"/>
              </a:rPr>
              <a:t>Using Machine Learning Techniques to Predict Learner Drop‐out Rate in Higher Educational Institutions.</a:t>
            </a:r>
            <a:r>
              <a:rPr lang="en-US" sz="1550" dirty="0">
                <a:solidFill>
                  <a:srgbClr val="161613"/>
                </a:solidFill>
                <a:latin typeface="Inter" pitchFamily="34" charset="0"/>
                <a:ea typeface="Inter" pitchFamily="34" charset="-122"/>
                <a:cs typeface="Inter" pitchFamily="34" charset="-120"/>
              </a:rPr>
              <a:t> Mobile Information Systems, 2022.</a:t>
            </a:r>
            <a:endParaRPr lang="en-US" sz="1550" dirty="0"/>
          </a:p>
        </p:txBody>
      </p:sp>
      <p:sp>
        <p:nvSpPr>
          <p:cNvPr id="7" name="Text 5"/>
          <p:cNvSpPr/>
          <p:nvPr/>
        </p:nvSpPr>
        <p:spPr>
          <a:xfrm>
            <a:off x="704017" y="4743331"/>
            <a:ext cx="13222367" cy="643890"/>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Ridwan, A., Priyatno, A. M., &amp; Ningsih, L. (2024). </a:t>
            </a:r>
            <a:r>
              <a:rPr lang="en-US" sz="1550" i="1" dirty="0">
                <a:solidFill>
                  <a:srgbClr val="161613"/>
                </a:solidFill>
                <a:latin typeface="Inter" pitchFamily="34" charset="0"/>
                <a:ea typeface="Inter" pitchFamily="34" charset="-122"/>
                <a:cs typeface="Inter" pitchFamily="34" charset="-120"/>
              </a:rPr>
              <a:t>Predict Students' Dropout and Academic Success with XGBoost.</a:t>
            </a:r>
            <a:r>
              <a:rPr lang="en-US" sz="1550" dirty="0">
                <a:solidFill>
                  <a:srgbClr val="161613"/>
                </a:solidFill>
                <a:latin typeface="Inter" pitchFamily="34" charset="0"/>
                <a:ea typeface="Inter" pitchFamily="34" charset="-122"/>
                <a:cs typeface="Inter" pitchFamily="34" charset="-120"/>
              </a:rPr>
              <a:t> Journal of Education and Computer Applications, 1(2), 1–8.</a:t>
            </a:r>
            <a:endParaRPr lang="en-US" sz="1550" dirty="0"/>
          </a:p>
        </p:txBody>
      </p:sp>
      <p:sp>
        <p:nvSpPr>
          <p:cNvPr id="8" name="Text 6"/>
          <p:cNvSpPr/>
          <p:nvPr/>
        </p:nvSpPr>
        <p:spPr>
          <a:xfrm>
            <a:off x="704017" y="5613440"/>
            <a:ext cx="13222367" cy="321945"/>
          </a:xfrm>
          <a:prstGeom prst="rect">
            <a:avLst/>
          </a:prstGeom>
          <a:noFill/>
          <a:ln/>
        </p:spPr>
        <p:txBody>
          <a:bodyPr wrap="non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Realinho, V., Machado, J., Baptista, L., &amp; Martins, M. V. (2022). </a:t>
            </a:r>
            <a:r>
              <a:rPr lang="en-US" sz="1550" i="1" dirty="0">
                <a:solidFill>
                  <a:srgbClr val="161613"/>
                </a:solidFill>
                <a:latin typeface="Inter" pitchFamily="34" charset="0"/>
                <a:ea typeface="Inter" pitchFamily="34" charset="-122"/>
                <a:cs typeface="Inter" pitchFamily="34" charset="-120"/>
              </a:rPr>
              <a:t>Predicting Student Dropout and Academic Success.</a:t>
            </a:r>
            <a:r>
              <a:rPr lang="en-US" sz="1550" dirty="0">
                <a:solidFill>
                  <a:srgbClr val="161613"/>
                </a:solidFill>
                <a:latin typeface="Inter" pitchFamily="34" charset="0"/>
                <a:ea typeface="Inter" pitchFamily="34" charset="-122"/>
                <a:cs typeface="Inter" pitchFamily="34" charset="-120"/>
              </a:rPr>
              <a:t> Data, 7(11), 146.</a:t>
            </a:r>
            <a:endParaRPr lang="en-US" sz="1550" dirty="0"/>
          </a:p>
        </p:txBody>
      </p:sp>
      <p:sp>
        <p:nvSpPr>
          <p:cNvPr id="9" name="Text 7"/>
          <p:cNvSpPr/>
          <p:nvPr/>
        </p:nvSpPr>
        <p:spPr>
          <a:xfrm>
            <a:off x="704017" y="6161603"/>
            <a:ext cx="13222367" cy="643890"/>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Sulak, S. A., &amp; Koklu, N. (2024). </a:t>
            </a:r>
            <a:r>
              <a:rPr lang="en-US" sz="1550" i="1" dirty="0">
                <a:solidFill>
                  <a:srgbClr val="161613"/>
                </a:solidFill>
                <a:latin typeface="Inter" pitchFamily="34" charset="0"/>
                <a:ea typeface="Inter" pitchFamily="34" charset="-122"/>
                <a:cs typeface="Inter" pitchFamily="34" charset="-120"/>
              </a:rPr>
              <a:t>Predicting Student Dropout Using Machine Learning Algorithms.</a:t>
            </a:r>
            <a:r>
              <a:rPr lang="en-US" sz="1550" dirty="0">
                <a:solidFill>
                  <a:srgbClr val="161613"/>
                </a:solidFill>
                <a:latin typeface="Inter" pitchFamily="34" charset="0"/>
                <a:ea typeface="Inter" pitchFamily="34" charset="-122"/>
                <a:cs typeface="Inter" pitchFamily="34" charset="-120"/>
              </a:rPr>
              <a:t> Intelligent Methods in Engineering Sciences, 3(3), 91-98.</a:t>
            </a:r>
            <a:endParaRPr lang="en-US" sz="1550" dirty="0"/>
          </a:p>
        </p:txBody>
      </p:sp>
      <p:sp>
        <p:nvSpPr>
          <p:cNvPr id="10" name="Text 8"/>
          <p:cNvSpPr/>
          <p:nvPr/>
        </p:nvSpPr>
        <p:spPr>
          <a:xfrm>
            <a:off x="704017" y="7031712"/>
            <a:ext cx="13222367" cy="643890"/>
          </a:xfrm>
          <a:prstGeom prst="rect">
            <a:avLst/>
          </a:prstGeom>
          <a:noFill/>
          <a:ln/>
        </p:spPr>
        <p:txBody>
          <a:bodyPr wrap="square" lIns="0" tIns="0" rIns="0" bIns="0" rtlCol="0" anchor="t"/>
          <a:lstStyle/>
          <a:p>
            <a:pPr marL="0" indent="0" algn="l">
              <a:lnSpc>
                <a:spcPts val="2500"/>
              </a:lnSpc>
              <a:buNone/>
            </a:pPr>
            <a:r>
              <a:rPr lang="en-US" sz="1550" dirty="0">
                <a:solidFill>
                  <a:srgbClr val="161613"/>
                </a:solidFill>
                <a:latin typeface="Inter" pitchFamily="34" charset="0"/>
                <a:ea typeface="Inter" pitchFamily="34" charset="-122"/>
                <a:cs typeface="Inter" pitchFamily="34" charset="-120"/>
              </a:rPr>
              <a:t>Villar, A., &amp; Andrade, C. R. V. (2024). </a:t>
            </a:r>
            <a:r>
              <a:rPr lang="en-US" sz="1550" i="1" dirty="0">
                <a:solidFill>
                  <a:srgbClr val="161613"/>
                </a:solidFill>
                <a:latin typeface="Inter" pitchFamily="34" charset="0"/>
                <a:ea typeface="Inter" pitchFamily="34" charset="-122"/>
                <a:cs typeface="Inter" pitchFamily="34" charset="-120"/>
              </a:rPr>
              <a:t>Supervised machine learning algorithms for predicting student dropout and academic success: A comparative study.</a:t>
            </a:r>
            <a:r>
              <a:rPr lang="en-US" sz="1550" dirty="0">
                <a:solidFill>
                  <a:srgbClr val="161613"/>
                </a:solidFill>
                <a:latin typeface="Inter" pitchFamily="34" charset="0"/>
                <a:ea typeface="Inter" pitchFamily="34" charset="-122"/>
                <a:cs typeface="Inter" pitchFamily="34" charset="-120"/>
              </a:rPr>
              <a:t> Discover Artificial Intelligence, 4(2).</a:t>
            </a:r>
            <a:endParaRPr lang="en-US" sz="1550" dirty="0"/>
          </a:p>
        </p:txBody>
      </p:sp>
      <p:sp>
        <p:nvSpPr>
          <p:cNvPr id="11" name="Rectangle 10">
            <a:extLst>
              <a:ext uri="{FF2B5EF4-FFF2-40B4-BE49-F238E27FC236}">
                <a16:creationId xmlns:a16="http://schemas.microsoft.com/office/drawing/2014/main" id="{E3AC8DB9-7632-DE3D-C583-6232CA86000C}"/>
              </a:ext>
            </a:extLst>
          </p:cNvPr>
          <p:cNvSpPr/>
          <p:nvPr/>
        </p:nvSpPr>
        <p:spPr>
          <a:xfrm>
            <a:off x="12431061" y="7697696"/>
            <a:ext cx="2145553" cy="502024"/>
          </a:xfrm>
          <a:prstGeom prst="rect">
            <a:avLst/>
          </a:prstGeom>
          <a:solidFill>
            <a:srgbClr val="F9F8F5"/>
          </a:solidFill>
          <a:ln>
            <a:solidFill>
              <a:srgbClr val="F9F8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3561</TotalTime>
  <Words>2844</Words>
  <Application>Microsoft Office PowerPoint</Application>
  <PresentationFormat>Custom</PresentationFormat>
  <Paragraphs>163</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Inter</vt:lpstr>
      <vt:lpstr>Arial</vt:lpstr>
      <vt:lpstr>DM Sans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ABDULAZIZ ABDULLAH</cp:lastModifiedBy>
  <cp:revision>11</cp:revision>
  <dcterms:created xsi:type="dcterms:W3CDTF">2025-04-29T10:06:04Z</dcterms:created>
  <dcterms:modified xsi:type="dcterms:W3CDTF">2025-12-31T07:56:13Z</dcterms:modified>
</cp:coreProperties>
</file>